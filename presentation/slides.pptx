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68093"/>
  </p:normalViewPr>
  <p:slideViewPr>
    <p:cSldViewPr snapToGrid="0" snapToObjects="1">
      <p:cViewPr varScale="1">
        <p:scale>
          <a:sx n="89" d="100"/>
          <a:sy n="89" d="100"/>
        </p:scale>
        <p:origin x="162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FECC00-00E7-F44A-89C5-288F29671670}" type="datetimeFigureOut">
              <a:rPr lang="en-CN" smtClean="0"/>
              <a:t>2026/3/2</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81261-804F-4446-8BBD-213A2F4CD602}" type="slidenum">
              <a:rPr lang="en-CN" smtClean="0"/>
              <a:t>‹#›</a:t>
            </a:fld>
            <a:endParaRPr lang="en-CN"/>
          </a:p>
        </p:txBody>
      </p:sp>
    </p:spTree>
    <p:extLst>
      <p:ext uri="{BB962C8B-B14F-4D97-AF65-F5344CB8AC3E}">
        <p14:creationId xmlns:p14="http://schemas.microsoft.com/office/powerpoint/2010/main" val="12951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p>
          <a:p>
            <a:endParaRPr lang="en-US" dirty="0"/>
          </a:p>
          <a:p>
            <a:r>
              <a:rPr lang="en-US" dirty="0"/>
              <a:t>Today we will present our project on housing rental policies and rent growth trends in the Chicago metropolitan area.</a:t>
            </a:r>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1</a:t>
            </a:fld>
            <a:endParaRPr lang="en-CN"/>
          </a:p>
        </p:txBody>
      </p:sp>
    </p:spTree>
    <p:extLst>
      <p:ext uri="{BB962C8B-B14F-4D97-AF65-F5344CB8AC3E}">
        <p14:creationId xmlns:p14="http://schemas.microsoft.com/office/powerpoint/2010/main" val="1216348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recent years, housing affordability has become one of the most pressing urban policy issues in Chicago.</a:t>
            </a:r>
          </a:p>
          <a:p>
            <a:r>
              <a:rPr lang="en-US" dirty="0"/>
              <a:t>From 2015-2024, rents have risen significantly, it increased 12.1% in just 4 years especially after the COVID-19 pandemic. We want to investigate about the relationship between residents' income median and their house rent proportion. Because some of the residents cost burden spending over 30% of income on rent.</a:t>
            </a:r>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2</a:t>
            </a:fld>
            <a:endParaRPr lang="en-CN"/>
          </a:p>
        </p:txBody>
      </p:sp>
    </p:spTree>
    <p:extLst>
      <p:ext uri="{BB962C8B-B14F-4D97-AF65-F5344CB8AC3E}">
        <p14:creationId xmlns:p14="http://schemas.microsoft.com/office/powerpoint/2010/main" val="2135523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 we addresses three main questions on this project.</a:t>
            </a:r>
          </a:p>
          <a:p>
            <a:r>
              <a:rPr lang="en-US" dirty="0"/>
              <a:t>First, how have rents evolved across Chicago </a:t>
            </a:r>
            <a:r>
              <a:rPr lang="en-US" dirty="0" err="1"/>
              <a:t>zipcodes</a:t>
            </a:r>
            <a:r>
              <a:rPr lang="en-US" dirty="0"/>
              <a:t> from 2015 to 2024? Did COVID-related policies change the circumstance?</a:t>
            </a:r>
          </a:p>
          <a:p>
            <a:r>
              <a:rPr lang="en-US" dirty="0"/>
              <a:t>Second, which census tracts experience the highest rent burdens, and is there clear geographic clustering?</a:t>
            </a:r>
          </a:p>
          <a:p>
            <a:r>
              <a:rPr lang="en-US" dirty="0"/>
              <a:t>Third, do rent trends and burden concentrations align with major housing policy events in Chicago?</a:t>
            </a:r>
            <a:endParaRPr lang="en-CN" dirty="0"/>
          </a:p>
          <a:p>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3</a:t>
            </a:fld>
            <a:endParaRPr lang="en-CN"/>
          </a:p>
        </p:txBody>
      </p:sp>
    </p:spTree>
    <p:extLst>
      <p:ext uri="{BB962C8B-B14F-4D97-AF65-F5344CB8AC3E}">
        <p14:creationId xmlns:p14="http://schemas.microsoft.com/office/powerpoint/2010/main" val="1337950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these question, we use U.S. Census Bureau to know the median gross rent, rent burden bins and median household income. Second, we use Zillow’s ZORI monthly rent index at the ZIP code level. This dataset captures short-term rent dynamics and allows me to analyze changes around policy events. By combining tract-level structural data with ZIP-level time-series data, we can study both spatial inequality and temporal change.</a:t>
            </a:r>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4</a:t>
            </a:fld>
            <a:endParaRPr lang="en-CN"/>
          </a:p>
        </p:txBody>
      </p:sp>
    </p:spTree>
    <p:extLst>
      <p:ext uri="{BB962C8B-B14F-4D97-AF65-F5344CB8AC3E}">
        <p14:creationId xmlns:p14="http://schemas.microsoft.com/office/powerpoint/2010/main" val="136510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integrated all the data we have our first figure, this shows monthly rent trends for selected ZIP codes across low-, mid-, and high-rent tiers from 2015 to 2026</a:t>
            </a:r>
          </a:p>
          <a:p>
            <a:r>
              <a:rPr lang="en-US" dirty="0"/>
              <a:t>Before COVID, rent growth was relatively modest and stable. During 2020 and 2021, rents slightly declined because the start of COVID-19 and the eviction moratorium. Once the eviction moratorium ended, rents accelerated sharply. By 2024, the average climbed to approximately $1,820 — a cumulative 21.9 percent increase since 2015. This post-moratorium surge is the steepest increase in the entire dataset.</a:t>
            </a:r>
          </a:p>
          <a:p>
            <a:r>
              <a:rPr lang="en-US" dirty="0"/>
              <a:t>Another important pattern is tier divergence.</a:t>
            </a:r>
          </a:p>
          <a:p>
            <a:r>
              <a:rPr lang="en-US" dirty="0"/>
              <a:t>High-rent ZIP codes mostly located in the North Side and central areas recovered faster and increased more in absolute dollar terms.</a:t>
            </a:r>
          </a:p>
          <a:p>
            <a:r>
              <a:rPr lang="en-US" dirty="0"/>
              <a:t>Low-rent ZIP codes, often in the South and West sides, showed smaller absolute rent increases, but because incomes in those areas are lower, even moderate rent growth can create larger affordability stress.</a:t>
            </a:r>
          </a:p>
          <a:p>
            <a:r>
              <a:rPr lang="en-US" dirty="0"/>
              <a:t>This bring up to our next question:</a:t>
            </a:r>
          </a:p>
          <a:p>
            <a:r>
              <a:rPr lang="en-US" dirty="0"/>
              <a:t>If rents diverged across ZIP codes, what does that mean for affordability at the census tract level?</a:t>
            </a:r>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5</a:t>
            </a:fld>
            <a:endParaRPr lang="en-CN"/>
          </a:p>
        </p:txBody>
      </p:sp>
    </p:spTree>
    <p:extLst>
      <p:ext uri="{BB962C8B-B14F-4D97-AF65-F5344CB8AC3E}">
        <p14:creationId xmlns:p14="http://schemas.microsoft.com/office/powerpoint/2010/main" val="1011754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really learn from this time-series analysis?</a:t>
            </a:r>
          </a:p>
          <a:p>
            <a:r>
              <a:rPr lang="en-US" dirty="0"/>
              <a:t>There are three key takeaways.</a:t>
            </a:r>
          </a:p>
          <a:p>
            <a:r>
              <a:rPr lang="en-US" dirty="0"/>
              <a:t>First, the overall rent increase since 2015 is not just gradual growth</a:t>
            </a:r>
            <a:r>
              <a:rPr lang="en-US" altLang="zh-CN" dirty="0"/>
              <a:t>,</a:t>
            </a:r>
            <a:r>
              <a:rPr lang="en-US" dirty="0"/>
              <a:t> it is highly concentrated in the post-moratorium period. The sharp acceleration after 2022 suggests that pandemic-era protections may have temporarily delayed market adjustments rather than prevented them.</a:t>
            </a:r>
          </a:p>
          <a:p>
            <a:r>
              <a:rPr lang="en-US" dirty="0"/>
              <a:t>Second, the recovery was uneven across ZIP codes. High-rent neighborhoods recovered faster and experienced stronger absolute growth. This widened the rent gap within the city.</a:t>
            </a:r>
          </a:p>
          <a:p>
            <a:r>
              <a:rPr lang="en-US" dirty="0"/>
              <a:t>Third, even though lower-rent ZIP codes saw smaller dollar increases, the affordability impact there may be more severe. In areas where household income is already low, even moderate rent growth can significantly raise the rent-to-income ratio.</a:t>
            </a:r>
          </a:p>
          <a:p>
            <a:r>
              <a:rPr lang="en-US" dirty="0"/>
              <a:t>At this point, the question shifts.</a:t>
            </a:r>
          </a:p>
          <a:p>
            <a:r>
              <a:rPr lang="en-US" dirty="0"/>
              <a:t>We now understand how rents changed over time.</a:t>
            </a:r>
          </a:p>
          <a:p>
            <a:r>
              <a:rPr lang="en-US" dirty="0"/>
              <a:t>But rent growth alone does not tell us who is struggling the most.</a:t>
            </a:r>
          </a:p>
          <a:p>
            <a:endParaRPr lang="en-CN" dirty="0"/>
          </a:p>
        </p:txBody>
      </p:sp>
      <p:sp>
        <p:nvSpPr>
          <p:cNvPr id="4" name="Slide Number Placeholder 3"/>
          <p:cNvSpPr>
            <a:spLocks noGrp="1"/>
          </p:cNvSpPr>
          <p:nvPr>
            <p:ph type="sldNum" sz="quarter" idx="5"/>
          </p:nvPr>
        </p:nvSpPr>
        <p:spPr/>
        <p:txBody>
          <a:bodyPr/>
          <a:lstStyle/>
          <a:p>
            <a:fld id="{A3B81261-804F-4446-8BBD-213A2F4CD602}" type="slidenum">
              <a:rPr lang="en-CN" smtClean="0"/>
              <a:t>6</a:t>
            </a:fld>
            <a:endParaRPr lang="en-CN"/>
          </a:p>
        </p:txBody>
      </p:sp>
    </p:spTree>
    <p:extLst>
      <p:ext uri="{BB962C8B-B14F-4D97-AF65-F5344CB8AC3E}">
        <p14:creationId xmlns:p14="http://schemas.microsoft.com/office/powerpoint/2010/main" val="189734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0"/>
            <a:ext cx="8229600" cy="2011680"/>
          </a:xfrm>
          <a:prstGeom prst="rect">
            <a:avLst/>
          </a:prstGeom>
          <a:noFill/>
        </p:spPr>
        <p:txBody>
          <a:bodyPr wrap="square">
            <a:spAutoFit/>
          </a:bodyPr>
          <a:lstStyle/>
          <a:p>
            <a:pPr algn="l"/>
            <a:r>
              <a:rPr sz="4000" b="1">
                <a:solidFill>
                  <a:srgbClr val="FFFFFF"/>
                </a:solidFill>
              </a:rPr>
              <a:t>Housing Rental Policies &amp;
Rent Growth Trends</a:t>
            </a:r>
          </a:p>
        </p:txBody>
      </p:sp>
      <p:sp>
        <p:nvSpPr>
          <p:cNvPr id="4" name="TextBox 3"/>
          <p:cNvSpPr txBox="1"/>
          <p:nvPr/>
        </p:nvSpPr>
        <p:spPr>
          <a:xfrm>
            <a:off x="502920" y="3566160"/>
            <a:ext cx="8229600" cy="548640"/>
          </a:xfrm>
          <a:prstGeom prst="rect">
            <a:avLst/>
          </a:prstGeom>
          <a:noFill/>
        </p:spPr>
        <p:txBody>
          <a:bodyPr wrap="square">
            <a:spAutoFit/>
          </a:bodyPr>
          <a:lstStyle/>
          <a:p>
            <a:pPr algn="l"/>
            <a:r>
              <a:rPr sz="2200" b="0">
                <a:solidFill>
                  <a:srgbClr val="E45756"/>
                </a:solidFill>
              </a:rPr>
              <a:t>Chicago Metropolitan Area</a:t>
            </a:r>
          </a:p>
        </p:txBody>
      </p:sp>
      <p:sp>
        <p:nvSpPr>
          <p:cNvPr id="5" name="TextBox 4"/>
          <p:cNvSpPr txBox="1"/>
          <p:nvPr/>
        </p:nvSpPr>
        <p:spPr>
          <a:xfrm>
            <a:off x="502920" y="4206240"/>
            <a:ext cx="8229600" cy="307777"/>
          </a:xfrm>
          <a:prstGeom prst="rect">
            <a:avLst/>
          </a:prstGeom>
          <a:noFill/>
        </p:spPr>
        <p:txBody>
          <a:bodyPr wrap="square">
            <a:spAutoFit/>
          </a:bodyPr>
          <a:lstStyle/>
          <a:p>
            <a:pPr algn="l"/>
            <a:r>
              <a:rPr sz="1400" b="0" dirty="0">
                <a:solidFill>
                  <a:srgbClr val="CCCCCC"/>
                </a:solidFill>
              </a:rPr>
              <a:t>YC Zhang</a:t>
            </a:r>
            <a:r>
              <a:rPr lang="en-US" sz="1400" dirty="0">
                <a:solidFill>
                  <a:srgbClr val="CCCCCC"/>
                </a:solidFill>
              </a:rPr>
              <a:t>, </a:t>
            </a:r>
            <a:r>
              <a:rPr lang="en-US" altLang="zh-CN" sz="1400" b="0" dirty="0">
                <a:solidFill>
                  <a:srgbClr val="CCCCCC"/>
                </a:solidFill>
              </a:rPr>
              <a:t>Ke Gao</a:t>
            </a:r>
            <a:r>
              <a:rPr lang="zh-CN" altLang="en-US" sz="1400" b="0" dirty="0">
                <a:solidFill>
                  <a:srgbClr val="CCCCCC"/>
                </a:solidFill>
              </a:rPr>
              <a:t> </a:t>
            </a:r>
            <a:r>
              <a:rPr sz="1400" b="0" dirty="0">
                <a:solidFill>
                  <a:srgbClr val="CCCCCC"/>
                </a:solidFill>
              </a:rPr>
              <a:t> ·  Data Visualization  ·  Final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Motivation</a:t>
            </a:r>
          </a:p>
        </p:txBody>
      </p:sp>
      <p:sp>
        <p:nvSpPr>
          <p:cNvPr id="4" name="TextBox 3"/>
          <p:cNvSpPr txBox="1"/>
          <p:nvPr/>
        </p:nvSpPr>
        <p:spPr>
          <a:xfrm>
            <a:off x="365760" y="1188720"/>
            <a:ext cx="6858000" cy="4114800"/>
          </a:xfrm>
          <a:prstGeom prst="rect">
            <a:avLst/>
          </a:prstGeom>
          <a:noFill/>
        </p:spPr>
        <p:txBody>
          <a:bodyPr wrap="square">
            <a:spAutoFit/>
          </a:bodyPr>
          <a:lstStyle/>
          <a:p>
            <a:pPr>
              <a:spcBef>
                <a:spcPts val="400"/>
              </a:spcBef>
            </a:pPr>
            <a:r>
              <a:rPr sz="1800" dirty="0">
                <a:solidFill>
                  <a:srgbClr val="FFFFFF"/>
                </a:solidFill>
              </a:rPr>
              <a:t>• Rents rose +21.9% from 2015 to 2024</a:t>
            </a:r>
          </a:p>
          <a:p>
            <a:pPr>
              <a:spcBef>
                <a:spcPts val="400"/>
              </a:spcBef>
            </a:pPr>
            <a:r>
              <a:rPr sz="1800" dirty="0">
                <a:solidFill>
                  <a:srgbClr val="FFFFFF"/>
                </a:solidFill>
              </a:rPr>
              <a:t>• Post-pandemic surge: +12.1% in just 4 years (2019–2023)</a:t>
            </a:r>
          </a:p>
          <a:p>
            <a:pPr>
              <a:spcBef>
                <a:spcPts val="400"/>
              </a:spcBef>
            </a:pPr>
            <a:r>
              <a:rPr sz="1800" dirty="0">
                <a:solidFill>
                  <a:srgbClr val="FFFFFF"/>
                </a:solidFill>
              </a:rPr>
              <a:t>• 83% of Cook County census tracts have majority cost-burdened renters</a:t>
            </a:r>
          </a:p>
          <a:p>
            <a:pPr>
              <a:spcBef>
                <a:spcPts val="400"/>
              </a:spcBef>
            </a:pPr>
            <a:r>
              <a:rPr sz="1800" dirty="0">
                <a:solidFill>
                  <a:srgbClr val="FFFFFF"/>
                </a:solidFill>
              </a:rPr>
              <a:t>• Cost burden = spending &gt;30% of income on rent (HUD threshold)</a:t>
            </a:r>
          </a:p>
        </p:txBody>
      </p:sp>
      <p:sp>
        <p:nvSpPr>
          <p:cNvPr id="5" name="Rectangle 4"/>
          <p:cNvSpPr/>
          <p:nvPr/>
        </p:nvSpPr>
        <p:spPr>
          <a:xfrm>
            <a:off x="7498079" y="1645920"/>
            <a:ext cx="4297680" cy="2286000"/>
          </a:xfrm>
          <a:prstGeom prst="rect">
            <a:avLst/>
          </a:prstGeom>
          <a:solidFill>
            <a:srgbClr val="2A2A4A"/>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0" y="1828800"/>
            <a:ext cx="3931920" cy="738664"/>
          </a:xfrm>
          <a:prstGeom prst="rect">
            <a:avLst/>
          </a:prstGeom>
          <a:noFill/>
        </p:spPr>
        <p:txBody>
          <a:bodyPr wrap="square">
            <a:spAutoFit/>
          </a:bodyPr>
          <a:lstStyle/>
          <a:p>
            <a:pPr algn="l"/>
            <a:r>
              <a:rPr sz="1400" b="0" dirty="0">
                <a:solidFill>
                  <a:srgbClr val="CCCCCC"/>
                </a:solidFill>
              </a:rPr>
              <a:t>"A majority of Chicago renters spend more than 30% of their income on housing</a:t>
            </a:r>
            <a:r>
              <a:rPr lang="en-US" sz="1400" b="0" dirty="0">
                <a:solidFill>
                  <a:srgbClr val="CCCCCC"/>
                </a:solidFill>
              </a:rPr>
              <a:t>, </a:t>
            </a:r>
            <a:r>
              <a:rPr sz="1400" b="0" dirty="0">
                <a:solidFill>
                  <a:srgbClr val="CCCCCC"/>
                </a:solidFill>
              </a:rPr>
              <a:t>but the crisis is not spread evenly across the city."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Research Questions</a:t>
            </a:r>
          </a:p>
        </p:txBody>
      </p:sp>
      <p:sp>
        <p:nvSpPr>
          <p:cNvPr id="4" name="Rectangle 3"/>
          <p:cNvSpPr/>
          <p:nvPr/>
        </p:nvSpPr>
        <p:spPr>
          <a:xfrm>
            <a:off x="365760" y="1188720"/>
            <a:ext cx="3657600" cy="5029200"/>
          </a:xfrm>
          <a:prstGeom prst="rect">
            <a:avLst/>
          </a:prstGeom>
          <a:solidFill>
            <a:srgbClr val="252540"/>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731520" cy="640080"/>
          </a:xfrm>
          <a:prstGeom prst="rect">
            <a:avLst/>
          </a:prstGeom>
          <a:noFill/>
        </p:spPr>
        <p:txBody>
          <a:bodyPr wrap="square">
            <a:spAutoFit/>
          </a:bodyPr>
          <a:lstStyle/>
          <a:p>
            <a:pPr algn="l"/>
            <a:r>
              <a:rPr sz="3200" b="1">
                <a:solidFill>
                  <a:srgbClr val="E45756"/>
                </a:solidFill>
              </a:rPr>
              <a:t>01</a:t>
            </a:r>
          </a:p>
        </p:txBody>
      </p:sp>
      <p:sp>
        <p:nvSpPr>
          <p:cNvPr id="6" name="TextBox 5"/>
          <p:cNvSpPr txBox="1"/>
          <p:nvPr/>
        </p:nvSpPr>
        <p:spPr>
          <a:xfrm>
            <a:off x="502920" y="1920240"/>
            <a:ext cx="3383280" cy="457200"/>
          </a:xfrm>
          <a:prstGeom prst="rect">
            <a:avLst/>
          </a:prstGeom>
          <a:noFill/>
        </p:spPr>
        <p:txBody>
          <a:bodyPr wrap="square">
            <a:spAutoFit/>
          </a:bodyPr>
          <a:lstStyle/>
          <a:p>
            <a:pPr algn="l"/>
            <a:r>
              <a:rPr sz="1600" b="1" dirty="0">
                <a:solidFill>
                  <a:srgbClr val="FFFFFF"/>
                </a:solidFill>
              </a:rPr>
              <a:t>Temporal Dynamics</a:t>
            </a:r>
          </a:p>
        </p:txBody>
      </p:sp>
      <p:sp>
        <p:nvSpPr>
          <p:cNvPr id="7" name="TextBox 6"/>
          <p:cNvSpPr txBox="1"/>
          <p:nvPr/>
        </p:nvSpPr>
        <p:spPr>
          <a:xfrm>
            <a:off x="502920" y="2423160"/>
            <a:ext cx="3383280" cy="3200400"/>
          </a:xfrm>
          <a:prstGeom prst="rect">
            <a:avLst/>
          </a:prstGeom>
          <a:noFill/>
        </p:spPr>
        <p:txBody>
          <a:bodyPr wrap="square">
            <a:spAutoFit/>
          </a:bodyPr>
          <a:lstStyle/>
          <a:p>
            <a:pPr algn="l"/>
            <a:r>
              <a:rPr sz="1400" b="0" dirty="0">
                <a:solidFill>
                  <a:srgbClr val="CCCCCC"/>
                </a:solidFill>
              </a:rPr>
              <a:t>How have rents evolved across Chicago ZIP codes from 2015 to 2026, and how did COVID-19 policy shape that trajectory?</a:t>
            </a:r>
          </a:p>
        </p:txBody>
      </p:sp>
      <p:sp>
        <p:nvSpPr>
          <p:cNvPr id="8" name="Rectangle 7"/>
          <p:cNvSpPr/>
          <p:nvPr/>
        </p:nvSpPr>
        <p:spPr>
          <a:xfrm>
            <a:off x="4297680" y="1188720"/>
            <a:ext cx="3657600" cy="5029200"/>
          </a:xfrm>
          <a:prstGeom prst="rect">
            <a:avLst/>
          </a:prstGeom>
          <a:solidFill>
            <a:srgbClr val="252540"/>
          </a:solidFill>
          <a:ln>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325880"/>
            <a:ext cx="731520" cy="640080"/>
          </a:xfrm>
          <a:prstGeom prst="rect">
            <a:avLst/>
          </a:prstGeom>
          <a:noFill/>
        </p:spPr>
        <p:txBody>
          <a:bodyPr wrap="square">
            <a:spAutoFit/>
          </a:bodyPr>
          <a:lstStyle/>
          <a:p>
            <a:pPr algn="l"/>
            <a:r>
              <a:rPr sz="3200" b="1">
                <a:solidFill>
                  <a:srgbClr val="FFA500"/>
                </a:solidFill>
              </a:rPr>
              <a:t>02</a:t>
            </a:r>
          </a:p>
        </p:txBody>
      </p:sp>
      <p:sp>
        <p:nvSpPr>
          <p:cNvPr id="10" name="TextBox 9"/>
          <p:cNvSpPr txBox="1"/>
          <p:nvPr/>
        </p:nvSpPr>
        <p:spPr>
          <a:xfrm>
            <a:off x="4434840" y="1920240"/>
            <a:ext cx="3383280" cy="457200"/>
          </a:xfrm>
          <a:prstGeom prst="rect">
            <a:avLst/>
          </a:prstGeom>
          <a:noFill/>
        </p:spPr>
        <p:txBody>
          <a:bodyPr wrap="square">
            <a:spAutoFit/>
          </a:bodyPr>
          <a:lstStyle/>
          <a:p>
            <a:pPr algn="l"/>
            <a:r>
              <a:rPr sz="1600" b="1" dirty="0">
                <a:solidFill>
                  <a:srgbClr val="FFFFFF"/>
                </a:solidFill>
              </a:rPr>
              <a:t>Spatial Inequality</a:t>
            </a:r>
          </a:p>
        </p:txBody>
      </p:sp>
      <p:sp>
        <p:nvSpPr>
          <p:cNvPr id="11" name="TextBox 10"/>
          <p:cNvSpPr txBox="1"/>
          <p:nvPr/>
        </p:nvSpPr>
        <p:spPr>
          <a:xfrm>
            <a:off x="4434840" y="2423160"/>
            <a:ext cx="3383280" cy="3200400"/>
          </a:xfrm>
          <a:prstGeom prst="rect">
            <a:avLst/>
          </a:prstGeom>
          <a:noFill/>
        </p:spPr>
        <p:txBody>
          <a:bodyPr wrap="square">
            <a:spAutoFit/>
          </a:bodyPr>
          <a:lstStyle/>
          <a:p>
            <a:pPr algn="l"/>
            <a:r>
              <a:rPr sz="1400" b="0" dirty="0">
                <a:solidFill>
                  <a:srgbClr val="CCCCCC"/>
                </a:solidFill>
              </a:rPr>
              <a:t>Which census tracts bear the highest rent burdens, and is geographic clustering visible?</a:t>
            </a:r>
          </a:p>
        </p:txBody>
      </p:sp>
      <p:sp>
        <p:nvSpPr>
          <p:cNvPr id="12" name="Rectangle 11"/>
          <p:cNvSpPr/>
          <p:nvPr/>
        </p:nvSpPr>
        <p:spPr>
          <a:xfrm>
            <a:off x="8229600" y="1188720"/>
            <a:ext cx="3657600" cy="5029200"/>
          </a:xfrm>
          <a:prstGeom prst="rect">
            <a:avLst/>
          </a:prstGeom>
          <a:solidFill>
            <a:srgbClr val="252540"/>
          </a:solidFill>
          <a:ln>
            <a:solidFill>
              <a:srgbClr val="4DAF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66760" y="1325880"/>
            <a:ext cx="731520" cy="640080"/>
          </a:xfrm>
          <a:prstGeom prst="rect">
            <a:avLst/>
          </a:prstGeom>
          <a:noFill/>
        </p:spPr>
        <p:txBody>
          <a:bodyPr wrap="square">
            <a:spAutoFit/>
          </a:bodyPr>
          <a:lstStyle/>
          <a:p>
            <a:pPr algn="l"/>
            <a:r>
              <a:rPr sz="3200" b="1">
                <a:solidFill>
                  <a:srgbClr val="4DAF4A"/>
                </a:solidFill>
              </a:rPr>
              <a:t>03</a:t>
            </a:r>
          </a:p>
        </p:txBody>
      </p:sp>
      <p:sp>
        <p:nvSpPr>
          <p:cNvPr id="14" name="TextBox 13"/>
          <p:cNvSpPr txBox="1"/>
          <p:nvPr/>
        </p:nvSpPr>
        <p:spPr>
          <a:xfrm>
            <a:off x="8366760" y="1920240"/>
            <a:ext cx="3383280" cy="457200"/>
          </a:xfrm>
          <a:prstGeom prst="rect">
            <a:avLst/>
          </a:prstGeom>
          <a:noFill/>
        </p:spPr>
        <p:txBody>
          <a:bodyPr wrap="square">
            <a:spAutoFit/>
          </a:bodyPr>
          <a:lstStyle/>
          <a:p>
            <a:pPr algn="l"/>
            <a:r>
              <a:rPr sz="1600" b="1" dirty="0">
                <a:solidFill>
                  <a:srgbClr val="FFFFFF"/>
                </a:solidFill>
              </a:rPr>
              <a:t>Policy Relevance</a:t>
            </a:r>
          </a:p>
        </p:txBody>
      </p:sp>
      <p:sp>
        <p:nvSpPr>
          <p:cNvPr id="15" name="TextBox 14"/>
          <p:cNvSpPr txBox="1"/>
          <p:nvPr/>
        </p:nvSpPr>
        <p:spPr>
          <a:xfrm>
            <a:off x="8366760" y="2423160"/>
            <a:ext cx="3383280" cy="3200400"/>
          </a:xfrm>
          <a:prstGeom prst="rect">
            <a:avLst/>
          </a:prstGeom>
          <a:noFill/>
        </p:spPr>
        <p:txBody>
          <a:bodyPr wrap="square">
            <a:spAutoFit/>
          </a:bodyPr>
          <a:lstStyle/>
          <a:p>
            <a:pPr algn="l"/>
            <a:r>
              <a:rPr sz="1400" b="0" dirty="0">
                <a:solidFill>
                  <a:srgbClr val="CCCCCC"/>
                </a:solidFill>
              </a:rPr>
              <a:t>Do rent trends and burden concentrations align with key Chicago housing policy events?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dirty="0">
                <a:solidFill>
                  <a:srgbClr val="FFD700"/>
                </a:solidFill>
              </a:rPr>
              <a:t>Data Sources</a:t>
            </a:r>
          </a:p>
        </p:txBody>
      </p:sp>
      <p:sp>
        <p:nvSpPr>
          <p:cNvPr id="4" name="TextBox 3"/>
          <p:cNvSpPr txBox="1"/>
          <p:nvPr/>
        </p:nvSpPr>
        <p:spPr>
          <a:xfrm>
            <a:off x="365760" y="594360"/>
            <a:ext cx="10972800" cy="365760"/>
          </a:xfrm>
          <a:prstGeom prst="rect">
            <a:avLst/>
          </a:prstGeom>
          <a:noFill/>
        </p:spPr>
        <p:txBody>
          <a:bodyPr wrap="square">
            <a:spAutoFit/>
          </a:bodyPr>
          <a:lstStyle/>
          <a:p>
            <a:pPr algn="l"/>
            <a:r>
              <a:rPr sz="1400" b="0" dirty="0">
                <a:solidFill>
                  <a:srgbClr val="CCCCCC"/>
                </a:solidFill>
              </a:rPr>
              <a:t>Two independent datasets merged by geography</a:t>
            </a:r>
          </a:p>
        </p:txBody>
      </p:sp>
      <p:sp>
        <p:nvSpPr>
          <p:cNvPr id="5" name="Rectangle 4"/>
          <p:cNvSpPr/>
          <p:nvPr/>
        </p:nvSpPr>
        <p:spPr>
          <a:xfrm>
            <a:off x="274320" y="1143000"/>
            <a:ext cx="4389120" cy="41148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170432"/>
            <a:ext cx="4389120" cy="365760"/>
          </a:xfrm>
          <a:prstGeom prst="rect">
            <a:avLst/>
          </a:prstGeom>
          <a:noFill/>
        </p:spPr>
        <p:txBody>
          <a:bodyPr wrap="square">
            <a:spAutoFit/>
          </a:bodyPr>
          <a:lstStyle/>
          <a:p>
            <a:pPr algn="l"/>
            <a:r>
              <a:rPr sz="1300" b="1">
                <a:solidFill>
                  <a:srgbClr val="FFFFFF"/>
                </a:solidFill>
              </a:rPr>
              <a:t>Dataset</a:t>
            </a:r>
          </a:p>
        </p:txBody>
      </p:sp>
      <p:sp>
        <p:nvSpPr>
          <p:cNvPr id="7" name="Rectangle 6"/>
          <p:cNvSpPr/>
          <p:nvPr/>
        </p:nvSpPr>
        <p:spPr>
          <a:xfrm>
            <a:off x="4754880" y="1143000"/>
            <a:ext cx="2286000" cy="41148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0600" y="1170432"/>
            <a:ext cx="2286000" cy="365760"/>
          </a:xfrm>
          <a:prstGeom prst="rect">
            <a:avLst/>
          </a:prstGeom>
          <a:noFill/>
        </p:spPr>
        <p:txBody>
          <a:bodyPr wrap="square">
            <a:spAutoFit/>
          </a:bodyPr>
          <a:lstStyle/>
          <a:p>
            <a:pPr algn="l"/>
            <a:r>
              <a:rPr sz="1300" b="1">
                <a:solidFill>
                  <a:srgbClr val="FFFFFF"/>
                </a:solidFill>
              </a:rPr>
              <a:t>Source</a:t>
            </a:r>
          </a:p>
        </p:txBody>
      </p:sp>
      <p:sp>
        <p:nvSpPr>
          <p:cNvPr id="9" name="Rectangle 8"/>
          <p:cNvSpPr/>
          <p:nvPr/>
        </p:nvSpPr>
        <p:spPr>
          <a:xfrm>
            <a:off x="7132320" y="1143000"/>
            <a:ext cx="1371600" cy="41148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78040" y="1170432"/>
            <a:ext cx="1371600" cy="365760"/>
          </a:xfrm>
          <a:prstGeom prst="rect">
            <a:avLst/>
          </a:prstGeom>
          <a:noFill/>
        </p:spPr>
        <p:txBody>
          <a:bodyPr wrap="square">
            <a:spAutoFit/>
          </a:bodyPr>
          <a:lstStyle/>
          <a:p>
            <a:pPr algn="l"/>
            <a:r>
              <a:rPr sz="1300" b="1">
                <a:solidFill>
                  <a:srgbClr val="FFFFFF"/>
                </a:solidFill>
              </a:rPr>
              <a:t>Unit</a:t>
            </a:r>
          </a:p>
        </p:txBody>
      </p:sp>
      <p:sp>
        <p:nvSpPr>
          <p:cNvPr id="11" name="Rectangle 10"/>
          <p:cNvSpPr/>
          <p:nvPr/>
        </p:nvSpPr>
        <p:spPr>
          <a:xfrm>
            <a:off x="8595360" y="1143000"/>
            <a:ext cx="3200400" cy="41148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1080" y="1170432"/>
            <a:ext cx="3200400" cy="365760"/>
          </a:xfrm>
          <a:prstGeom prst="rect">
            <a:avLst/>
          </a:prstGeom>
          <a:noFill/>
        </p:spPr>
        <p:txBody>
          <a:bodyPr wrap="square">
            <a:spAutoFit/>
          </a:bodyPr>
          <a:lstStyle/>
          <a:p>
            <a:pPr algn="l"/>
            <a:r>
              <a:rPr sz="1300" b="1">
                <a:solidFill>
                  <a:srgbClr val="FFFFFF"/>
                </a:solidFill>
              </a:rPr>
              <a:t>Coverage</a:t>
            </a:r>
          </a:p>
        </p:txBody>
      </p:sp>
      <p:sp>
        <p:nvSpPr>
          <p:cNvPr id="13" name="Rectangle 12"/>
          <p:cNvSpPr/>
          <p:nvPr/>
        </p:nvSpPr>
        <p:spPr>
          <a:xfrm>
            <a:off x="274320" y="1554480"/>
            <a:ext cx="438912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1600200"/>
            <a:ext cx="4297680" cy="457200"/>
          </a:xfrm>
          <a:prstGeom prst="rect">
            <a:avLst/>
          </a:prstGeom>
          <a:noFill/>
        </p:spPr>
        <p:txBody>
          <a:bodyPr wrap="square">
            <a:spAutoFit/>
          </a:bodyPr>
          <a:lstStyle/>
          <a:p>
            <a:pPr algn="l"/>
            <a:r>
              <a:rPr sz="1200" b="0">
                <a:solidFill>
                  <a:srgbClr val="FFFFFF"/>
                </a:solidFill>
              </a:rPr>
              <a:t>ACS B25064 – Median Gross Rent</a:t>
            </a:r>
          </a:p>
        </p:txBody>
      </p:sp>
      <p:sp>
        <p:nvSpPr>
          <p:cNvPr id="15" name="Rectangle 14"/>
          <p:cNvSpPr/>
          <p:nvPr/>
        </p:nvSpPr>
        <p:spPr>
          <a:xfrm>
            <a:off x="4754880" y="1554480"/>
            <a:ext cx="22860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00600" y="1600200"/>
            <a:ext cx="2194560" cy="457200"/>
          </a:xfrm>
          <a:prstGeom prst="rect">
            <a:avLst/>
          </a:prstGeom>
          <a:noFill/>
        </p:spPr>
        <p:txBody>
          <a:bodyPr wrap="square">
            <a:spAutoFit/>
          </a:bodyPr>
          <a:lstStyle/>
          <a:p>
            <a:pPr algn="l"/>
            <a:r>
              <a:rPr sz="1200" b="0" dirty="0">
                <a:solidFill>
                  <a:srgbClr val="CCCCCC"/>
                </a:solidFill>
              </a:rPr>
              <a:t>U.S. Census Bureau</a:t>
            </a:r>
          </a:p>
        </p:txBody>
      </p:sp>
      <p:sp>
        <p:nvSpPr>
          <p:cNvPr id="17" name="Rectangle 16"/>
          <p:cNvSpPr/>
          <p:nvPr/>
        </p:nvSpPr>
        <p:spPr>
          <a:xfrm>
            <a:off x="7132320" y="1554480"/>
            <a:ext cx="13716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78040" y="1600200"/>
            <a:ext cx="1280160" cy="457200"/>
          </a:xfrm>
          <a:prstGeom prst="rect">
            <a:avLst/>
          </a:prstGeom>
          <a:noFill/>
        </p:spPr>
        <p:txBody>
          <a:bodyPr wrap="square">
            <a:spAutoFit/>
          </a:bodyPr>
          <a:lstStyle/>
          <a:p>
            <a:pPr algn="l"/>
            <a:r>
              <a:rPr sz="1200" b="0" dirty="0">
                <a:solidFill>
                  <a:srgbClr val="CCCCCC"/>
                </a:solidFill>
              </a:rPr>
              <a:t>Census tract</a:t>
            </a:r>
          </a:p>
        </p:txBody>
      </p:sp>
      <p:sp>
        <p:nvSpPr>
          <p:cNvPr id="19" name="Rectangle 18"/>
          <p:cNvSpPr/>
          <p:nvPr/>
        </p:nvSpPr>
        <p:spPr>
          <a:xfrm>
            <a:off x="8595360" y="1554480"/>
            <a:ext cx="32004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41080" y="1600200"/>
            <a:ext cx="3108960" cy="457200"/>
          </a:xfrm>
          <a:prstGeom prst="rect">
            <a:avLst/>
          </a:prstGeom>
          <a:noFill/>
        </p:spPr>
        <p:txBody>
          <a:bodyPr wrap="square">
            <a:spAutoFit/>
          </a:bodyPr>
          <a:lstStyle/>
          <a:p>
            <a:pPr algn="l"/>
            <a:r>
              <a:rPr sz="1200" b="0">
                <a:solidFill>
                  <a:srgbClr val="CCCCCC"/>
                </a:solidFill>
              </a:rPr>
              <a:t>1,254 Cook County tracts</a:t>
            </a:r>
          </a:p>
        </p:txBody>
      </p:sp>
      <p:sp>
        <p:nvSpPr>
          <p:cNvPr id="21" name="Rectangle 20"/>
          <p:cNvSpPr/>
          <p:nvPr/>
        </p:nvSpPr>
        <p:spPr>
          <a:xfrm>
            <a:off x="274320" y="2103120"/>
            <a:ext cx="438912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2148840"/>
            <a:ext cx="4297680" cy="457200"/>
          </a:xfrm>
          <a:prstGeom prst="rect">
            <a:avLst/>
          </a:prstGeom>
          <a:noFill/>
        </p:spPr>
        <p:txBody>
          <a:bodyPr wrap="square">
            <a:spAutoFit/>
          </a:bodyPr>
          <a:lstStyle/>
          <a:p>
            <a:pPr algn="l"/>
            <a:r>
              <a:rPr sz="1200" b="0">
                <a:solidFill>
                  <a:srgbClr val="FFFFFF"/>
                </a:solidFill>
              </a:rPr>
              <a:t>ACS B19013 – Median Household Income</a:t>
            </a:r>
          </a:p>
        </p:txBody>
      </p:sp>
      <p:sp>
        <p:nvSpPr>
          <p:cNvPr id="23" name="Rectangle 22"/>
          <p:cNvSpPr/>
          <p:nvPr/>
        </p:nvSpPr>
        <p:spPr>
          <a:xfrm>
            <a:off x="4754880" y="2103120"/>
            <a:ext cx="22860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00600" y="2148840"/>
            <a:ext cx="2194560" cy="457200"/>
          </a:xfrm>
          <a:prstGeom prst="rect">
            <a:avLst/>
          </a:prstGeom>
          <a:noFill/>
        </p:spPr>
        <p:txBody>
          <a:bodyPr wrap="square">
            <a:spAutoFit/>
          </a:bodyPr>
          <a:lstStyle/>
          <a:p>
            <a:pPr algn="l"/>
            <a:r>
              <a:rPr sz="1200" b="0">
                <a:solidFill>
                  <a:srgbClr val="CCCCCC"/>
                </a:solidFill>
              </a:rPr>
              <a:t>U.S. Census Bureau</a:t>
            </a:r>
          </a:p>
        </p:txBody>
      </p:sp>
      <p:sp>
        <p:nvSpPr>
          <p:cNvPr id="25" name="Rectangle 24"/>
          <p:cNvSpPr/>
          <p:nvPr/>
        </p:nvSpPr>
        <p:spPr>
          <a:xfrm>
            <a:off x="7132320" y="2103120"/>
            <a:ext cx="13716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2148840"/>
            <a:ext cx="1280160" cy="457200"/>
          </a:xfrm>
          <a:prstGeom prst="rect">
            <a:avLst/>
          </a:prstGeom>
          <a:noFill/>
        </p:spPr>
        <p:txBody>
          <a:bodyPr wrap="square">
            <a:spAutoFit/>
          </a:bodyPr>
          <a:lstStyle/>
          <a:p>
            <a:pPr algn="l"/>
            <a:r>
              <a:rPr sz="1200" b="0">
                <a:solidFill>
                  <a:srgbClr val="CCCCCC"/>
                </a:solidFill>
              </a:rPr>
              <a:t>Census tract</a:t>
            </a:r>
          </a:p>
        </p:txBody>
      </p:sp>
      <p:sp>
        <p:nvSpPr>
          <p:cNvPr id="27" name="Rectangle 26"/>
          <p:cNvSpPr/>
          <p:nvPr/>
        </p:nvSpPr>
        <p:spPr>
          <a:xfrm>
            <a:off x="8595360" y="2103120"/>
            <a:ext cx="32004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2148840"/>
            <a:ext cx="3108960" cy="457200"/>
          </a:xfrm>
          <a:prstGeom prst="rect">
            <a:avLst/>
          </a:prstGeom>
          <a:noFill/>
        </p:spPr>
        <p:txBody>
          <a:bodyPr wrap="square">
            <a:spAutoFit/>
          </a:bodyPr>
          <a:lstStyle/>
          <a:p>
            <a:pPr algn="l"/>
            <a:r>
              <a:rPr sz="1200" b="0">
                <a:solidFill>
                  <a:srgbClr val="CCCCCC"/>
                </a:solidFill>
              </a:rPr>
              <a:t>1,254 Cook County tracts</a:t>
            </a:r>
          </a:p>
        </p:txBody>
      </p:sp>
      <p:sp>
        <p:nvSpPr>
          <p:cNvPr id="29" name="Rectangle 28"/>
          <p:cNvSpPr/>
          <p:nvPr/>
        </p:nvSpPr>
        <p:spPr>
          <a:xfrm>
            <a:off x="274320" y="2651760"/>
            <a:ext cx="438912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2697480"/>
            <a:ext cx="4297680" cy="457200"/>
          </a:xfrm>
          <a:prstGeom prst="rect">
            <a:avLst/>
          </a:prstGeom>
          <a:noFill/>
        </p:spPr>
        <p:txBody>
          <a:bodyPr wrap="square">
            <a:spAutoFit/>
          </a:bodyPr>
          <a:lstStyle/>
          <a:p>
            <a:pPr algn="l"/>
            <a:r>
              <a:rPr sz="1200" b="0">
                <a:solidFill>
                  <a:srgbClr val="FFFFFF"/>
                </a:solidFill>
              </a:rPr>
              <a:t>ACS B25070 – Rent Burden Bins</a:t>
            </a:r>
          </a:p>
        </p:txBody>
      </p:sp>
      <p:sp>
        <p:nvSpPr>
          <p:cNvPr id="31" name="Rectangle 30"/>
          <p:cNvSpPr/>
          <p:nvPr/>
        </p:nvSpPr>
        <p:spPr>
          <a:xfrm>
            <a:off x="4754880" y="2651760"/>
            <a:ext cx="22860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00600" y="2697480"/>
            <a:ext cx="2194560" cy="457200"/>
          </a:xfrm>
          <a:prstGeom prst="rect">
            <a:avLst/>
          </a:prstGeom>
          <a:noFill/>
        </p:spPr>
        <p:txBody>
          <a:bodyPr wrap="square">
            <a:spAutoFit/>
          </a:bodyPr>
          <a:lstStyle/>
          <a:p>
            <a:pPr algn="l"/>
            <a:r>
              <a:rPr sz="1200" b="0">
                <a:solidFill>
                  <a:srgbClr val="CCCCCC"/>
                </a:solidFill>
              </a:rPr>
              <a:t>U.S. Census Bureau</a:t>
            </a:r>
          </a:p>
        </p:txBody>
      </p:sp>
      <p:sp>
        <p:nvSpPr>
          <p:cNvPr id="33" name="Rectangle 32"/>
          <p:cNvSpPr/>
          <p:nvPr/>
        </p:nvSpPr>
        <p:spPr>
          <a:xfrm>
            <a:off x="7132320" y="2651760"/>
            <a:ext cx="13716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78040" y="2697480"/>
            <a:ext cx="1280160" cy="457200"/>
          </a:xfrm>
          <a:prstGeom prst="rect">
            <a:avLst/>
          </a:prstGeom>
          <a:noFill/>
        </p:spPr>
        <p:txBody>
          <a:bodyPr wrap="square">
            <a:spAutoFit/>
          </a:bodyPr>
          <a:lstStyle/>
          <a:p>
            <a:pPr algn="l"/>
            <a:r>
              <a:rPr sz="1200" b="0">
                <a:solidFill>
                  <a:srgbClr val="CCCCCC"/>
                </a:solidFill>
              </a:rPr>
              <a:t>Census tract</a:t>
            </a:r>
          </a:p>
        </p:txBody>
      </p:sp>
      <p:sp>
        <p:nvSpPr>
          <p:cNvPr id="35" name="Rectangle 34"/>
          <p:cNvSpPr/>
          <p:nvPr/>
        </p:nvSpPr>
        <p:spPr>
          <a:xfrm>
            <a:off x="8595360" y="2651760"/>
            <a:ext cx="3200400" cy="50292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41080" y="2697480"/>
            <a:ext cx="3108960" cy="457200"/>
          </a:xfrm>
          <a:prstGeom prst="rect">
            <a:avLst/>
          </a:prstGeom>
          <a:noFill/>
        </p:spPr>
        <p:txBody>
          <a:bodyPr wrap="square">
            <a:spAutoFit/>
          </a:bodyPr>
          <a:lstStyle/>
          <a:p>
            <a:pPr algn="l"/>
            <a:r>
              <a:rPr sz="1200" b="0">
                <a:solidFill>
                  <a:srgbClr val="CCCCCC"/>
                </a:solidFill>
              </a:rPr>
              <a:t>1,254 Cook County tracts</a:t>
            </a:r>
          </a:p>
        </p:txBody>
      </p:sp>
      <p:sp>
        <p:nvSpPr>
          <p:cNvPr id="37" name="Rectangle 36"/>
          <p:cNvSpPr/>
          <p:nvPr/>
        </p:nvSpPr>
        <p:spPr>
          <a:xfrm>
            <a:off x="274320" y="3200400"/>
            <a:ext cx="438912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3246120"/>
            <a:ext cx="4297680" cy="457200"/>
          </a:xfrm>
          <a:prstGeom prst="rect">
            <a:avLst/>
          </a:prstGeom>
          <a:noFill/>
        </p:spPr>
        <p:txBody>
          <a:bodyPr wrap="square">
            <a:spAutoFit/>
          </a:bodyPr>
          <a:lstStyle/>
          <a:p>
            <a:pPr algn="l"/>
            <a:r>
              <a:rPr sz="1200" b="0">
                <a:solidFill>
                  <a:srgbClr val="FFFFFF"/>
                </a:solidFill>
              </a:rPr>
              <a:t>Zillow ZORI – Monthly Rent Index</a:t>
            </a:r>
          </a:p>
        </p:txBody>
      </p:sp>
      <p:sp>
        <p:nvSpPr>
          <p:cNvPr id="39" name="Rectangle 38"/>
          <p:cNvSpPr/>
          <p:nvPr/>
        </p:nvSpPr>
        <p:spPr>
          <a:xfrm>
            <a:off x="4754880" y="3200400"/>
            <a:ext cx="22860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00600" y="3246120"/>
            <a:ext cx="2194560" cy="457200"/>
          </a:xfrm>
          <a:prstGeom prst="rect">
            <a:avLst/>
          </a:prstGeom>
          <a:noFill/>
        </p:spPr>
        <p:txBody>
          <a:bodyPr wrap="square">
            <a:spAutoFit/>
          </a:bodyPr>
          <a:lstStyle/>
          <a:p>
            <a:pPr algn="l"/>
            <a:r>
              <a:rPr sz="1200" b="0" dirty="0">
                <a:solidFill>
                  <a:srgbClr val="CCCCCC"/>
                </a:solidFill>
              </a:rPr>
              <a:t>Zillow Research</a:t>
            </a:r>
          </a:p>
        </p:txBody>
      </p:sp>
      <p:sp>
        <p:nvSpPr>
          <p:cNvPr id="41" name="Rectangle 40"/>
          <p:cNvSpPr/>
          <p:nvPr/>
        </p:nvSpPr>
        <p:spPr>
          <a:xfrm>
            <a:off x="7132320" y="3200400"/>
            <a:ext cx="13716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78040" y="3246120"/>
            <a:ext cx="1280160" cy="457200"/>
          </a:xfrm>
          <a:prstGeom prst="rect">
            <a:avLst/>
          </a:prstGeom>
          <a:noFill/>
        </p:spPr>
        <p:txBody>
          <a:bodyPr wrap="square">
            <a:spAutoFit/>
          </a:bodyPr>
          <a:lstStyle/>
          <a:p>
            <a:pPr algn="l"/>
            <a:r>
              <a:rPr sz="1200" b="0">
                <a:solidFill>
                  <a:srgbClr val="CCCCCC"/>
                </a:solidFill>
              </a:rPr>
              <a:t>ZIP code</a:t>
            </a:r>
          </a:p>
        </p:txBody>
      </p:sp>
      <p:sp>
        <p:nvSpPr>
          <p:cNvPr id="43" name="Rectangle 42"/>
          <p:cNvSpPr/>
          <p:nvPr/>
        </p:nvSpPr>
        <p:spPr>
          <a:xfrm>
            <a:off x="8595360" y="3200400"/>
            <a:ext cx="3200400" cy="50292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41080" y="3246120"/>
            <a:ext cx="3108960" cy="457200"/>
          </a:xfrm>
          <a:prstGeom prst="rect">
            <a:avLst/>
          </a:prstGeom>
          <a:noFill/>
        </p:spPr>
        <p:txBody>
          <a:bodyPr wrap="square">
            <a:spAutoFit/>
          </a:bodyPr>
          <a:lstStyle/>
          <a:p>
            <a:pPr algn="l"/>
            <a:r>
              <a:rPr sz="1200" b="0">
                <a:solidFill>
                  <a:srgbClr val="CCCCCC"/>
                </a:solidFill>
              </a:rPr>
              <a:t>206 Chicago metro ZIPs · 2015–2026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1: Rent Trends Over Time (2015–2026)</a:t>
            </a:r>
          </a:p>
        </p:txBody>
      </p:sp>
      <p:sp>
        <p:nvSpPr>
          <p:cNvPr id="4" name="TextBox 3"/>
          <p:cNvSpPr txBox="1"/>
          <p:nvPr/>
        </p:nvSpPr>
        <p:spPr>
          <a:xfrm>
            <a:off x="365760" y="594360"/>
            <a:ext cx="10972800" cy="365760"/>
          </a:xfrm>
          <a:prstGeom prst="rect">
            <a:avLst/>
          </a:prstGeom>
          <a:noFill/>
        </p:spPr>
        <p:txBody>
          <a:bodyPr wrap="square">
            <a:spAutoFit/>
          </a:bodyPr>
          <a:lstStyle/>
          <a:p>
            <a:pPr algn="l"/>
            <a:r>
              <a:rPr sz="1400" b="0">
                <a:solidFill>
                  <a:srgbClr val="CCCCCC"/>
                </a:solidFill>
              </a:rPr>
              <a:t>Zillow ZORI · 15 Chicago ZIP codes across Low / Mid / High rent tiers</a:t>
            </a:r>
          </a:p>
        </p:txBody>
      </p:sp>
      <p:pic>
        <p:nvPicPr>
          <p:cNvPr id="5" name="Picture 4" descr="slide_timeseries.png"/>
          <p:cNvPicPr>
            <a:picLocks noChangeAspect="1"/>
          </p:cNvPicPr>
          <p:nvPr/>
        </p:nvPicPr>
        <p:blipFill>
          <a:blip r:embed="rId3"/>
          <a:stretch>
            <a:fillRect/>
          </a:stretch>
        </p:blipFill>
        <p:spPr>
          <a:xfrm>
            <a:off x="457200" y="1097280"/>
            <a:ext cx="11247120" cy="5303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1: Key Takeaways</a:t>
            </a:r>
          </a:p>
        </p:txBody>
      </p:sp>
      <p:sp>
        <p:nvSpPr>
          <p:cNvPr id="4" name="Rectangle 3"/>
          <p:cNvSpPr/>
          <p:nvPr/>
        </p:nvSpPr>
        <p:spPr>
          <a:xfrm>
            <a:off x="274320" y="1143000"/>
            <a:ext cx="3657600" cy="5212080"/>
          </a:xfrm>
          <a:prstGeom prst="rect">
            <a:avLst/>
          </a:prstGeom>
          <a:solidFill>
            <a:srgbClr val="25254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234440"/>
            <a:ext cx="3474720" cy="502920"/>
          </a:xfrm>
          <a:prstGeom prst="rect">
            <a:avLst/>
          </a:prstGeom>
          <a:noFill/>
        </p:spPr>
        <p:txBody>
          <a:bodyPr wrap="square">
            <a:spAutoFit/>
          </a:bodyPr>
          <a:lstStyle/>
          <a:p>
            <a:pPr algn="l"/>
            <a:r>
              <a:rPr sz="1500" b="1">
                <a:solidFill>
                  <a:srgbClr val="FFFFFF"/>
                </a:solidFill>
              </a:rPr>
              <a:t>Before COVID (2015–2019)</a:t>
            </a:r>
          </a:p>
        </p:txBody>
      </p:sp>
      <p:sp>
        <p:nvSpPr>
          <p:cNvPr id="6" name="Rectangle 5"/>
          <p:cNvSpPr/>
          <p:nvPr/>
        </p:nvSpPr>
        <p:spPr>
          <a:xfrm>
            <a:off x="365760" y="1737360"/>
            <a:ext cx="11430000" cy="27432"/>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0"/>
            <a:ext cx="3474720" cy="4114800"/>
          </a:xfrm>
          <a:prstGeom prst="rect">
            <a:avLst/>
          </a:prstGeom>
          <a:noFill/>
        </p:spPr>
        <p:txBody>
          <a:bodyPr wrap="square">
            <a:spAutoFit/>
          </a:bodyPr>
          <a:lstStyle/>
          <a:p>
            <a:pPr>
              <a:spcBef>
                <a:spcPts val="400"/>
              </a:spcBef>
            </a:pPr>
            <a:r>
              <a:rPr sz="1500" dirty="0">
                <a:solidFill>
                  <a:srgbClr val="FFFFFF"/>
                </a:solidFill>
              </a:rPr>
              <a:t>• Modest growth: +3.2% over 4 years</a:t>
            </a:r>
          </a:p>
          <a:p>
            <a:pPr>
              <a:spcBef>
                <a:spcPts val="400"/>
              </a:spcBef>
            </a:pPr>
            <a:r>
              <a:rPr sz="1500" dirty="0">
                <a:solidFill>
                  <a:srgbClr val="FFFFFF"/>
                </a:solidFill>
              </a:rPr>
              <a:t>• Market broadly stable across tiers</a:t>
            </a:r>
          </a:p>
        </p:txBody>
      </p:sp>
      <p:sp>
        <p:nvSpPr>
          <p:cNvPr id="8" name="Rectangle 7"/>
          <p:cNvSpPr/>
          <p:nvPr/>
        </p:nvSpPr>
        <p:spPr>
          <a:xfrm>
            <a:off x="4114800" y="1143000"/>
            <a:ext cx="3657600" cy="5212080"/>
          </a:xfrm>
          <a:prstGeom prst="rect">
            <a:avLst/>
          </a:prstGeom>
          <a:solidFill>
            <a:srgbClr val="252540"/>
          </a:solidFill>
          <a:ln>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06240" y="1234440"/>
            <a:ext cx="3474720" cy="502920"/>
          </a:xfrm>
          <a:prstGeom prst="rect">
            <a:avLst/>
          </a:prstGeom>
          <a:noFill/>
        </p:spPr>
        <p:txBody>
          <a:bodyPr wrap="square">
            <a:spAutoFit/>
          </a:bodyPr>
          <a:lstStyle/>
          <a:p>
            <a:pPr algn="l"/>
            <a:r>
              <a:rPr sz="1500" b="1">
                <a:solidFill>
                  <a:srgbClr val="FFA500"/>
                </a:solidFill>
              </a:rPr>
              <a:t>COVID Period (2020–2021)</a:t>
            </a:r>
          </a:p>
        </p:txBody>
      </p:sp>
      <p:sp>
        <p:nvSpPr>
          <p:cNvPr id="10" name="Rectangle 9"/>
          <p:cNvSpPr/>
          <p:nvPr/>
        </p:nvSpPr>
        <p:spPr>
          <a:xfrm>
            <a:off x="365760" y="1737360"/>
            <a:ext cx="11430000" cy="27432"/>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828800"/>
            <a:ext cx="3474720" cy="4114800"/>
          </a:xfrm>
          <a:prstGeom prst="rect">
            <a:avLst/>
          </a:prstGeom>
          <a:noFill/>
        </p:spPr>
        <p:txBody>
          <a:bodyPr wrap="square">
            <a:spAutoFit/>
          </a:bodyPr>
          <a:lstStyle/>
          <a:p>
            <a:pPr>
              <a:spcBef>
                <a:spcPts val="400"/>
              </a:spcBef>
            </a:pPr>
            <a:r>
              <a:rPr sz="1500">
                <a:solidFill>
                  <a:srgbClr val="FFFFFF"/>
                </a:solidFill>
              </a:rPr>
              <a:t>• Rents dipped: $1,532 → $1,521</a:t>
            </a:r>
          </a:p>
          <a:p>
            <a:pPr>
              <a:spcBef>
                <a:spcPts val="400"/>
              </a:spcBef>
            </a:pPr>
            <a:r>
              <a:rPr sz="1500">
                <a:solidFill>
                  <a:srgbClr val="FFFFFF"/>
                </a:solidFill>
              </a:rPr>
              <a:t>• Eviction moratorium suppressed re-pricing</a:t>
            </a:r>
          </a:p>
        </p:txBody>
      </p:sp>
      <p:sp>
        <p:nvSpPr>
          <p:cNvPr id="12" name="Rectangle 11"/>
          <p:cNvSpPr/>
          <p:nvPr/>
        </p:nvSpPr>
        <p:spPr>
          <a:xfrm>
            <a:off x="7955279" y="1143000"/>
            <a:ext cx="3657600" cy="5212080"/>
          </a:xfrm>
          <a:prstGeom prst="rect">
            <a:avLst/>
          </a:prstGeom>
          <a:solidFill>
            <a:srgbClr val="252540"/>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19" y="1234440"/>
            <a:ext cx="3474720" cy="502920"/>
          </a:xfrm>
          <a:prstGeom prst="rect">
            <a:avLst/>
          </a:prstGeom>
          <a:noFill/>
        </p:spPr>
        <p:txBody>
          <a:bodyPr wrap="square">
            <a:spAutoFit/>
          </a:bodyPr>
          <a:lstStyle/>
          <a:p>
            <a:pPr algn="l"/>
            <a:r>
              <a:rPr sz="1500" b="1">
                <a:solidFill>
                  <a:srgbClr val="E45756"/>
                </a:solidFill>
              </a:rPr>
              <a:t>Post-Moratorium Surge (2022–2024)</a:t>
            </a:r>
          </a:p>
        </p:txBody>
      </p:sp>
      <p:sp>
        <p:nvSpPr>
          <p:cNvPr id="14" name="Rectangle 13"/>
          <p:cNvSpPr/>
          <p:nvPr/>
        </p:nvSpPr>
        <p:spPr>
          <a:xfrm>
            <a:off x="365760" y="1737360"/>
            <a:ext cx="11430000" cy="27432"/>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19" y="1828800"/>
            <a:ext cx="3474720" cy="4114800"/>
          </a:xfrm>
          <a:prstGeom prst="rect">
            <a:avLst/>
          </a:prstGeom>
          <a:noFill/>
        </p:spPr>
        <p:txBody>
          <a:bodyPr wrap="square">
            <a:spAutoFit/>
          </a:bodyPr>
          <a:lstStyle/>
          <a:p>
            <a:pPr>
              <a:spcBef>
                <a:spcPts val="400"/>
              </a:spcBef>
            </a:pPr>
            <a:r>
              <a:rPr sz="1500">
                <a:solidFill>
                  <a:srgbClr val="FFFFFF"/>
                </a:solidFill>
              </a:rPr>
              <a:t>• 2023 average: $1,728  (+12.1% vs 2019)</a:t>
            </a:r>
          </a:p>
          <a:p>
            <a:pPr>
              <a:spcBef>
                <a:spcPts val="400"/>
              </a:spcBef>
            </a:pPr>
            <a:r>
              <a:rPr sz="1500">
                <a:solidFill>
                  <a:srgbClr val="FFFFFF"/>
                </a:solidFill>
              </a:rPr>
              <a:t>• 2024 average: $1,820  (+21.9% vs 2015)</a:t>
            </a:r>
          </a:p>
          <a:p>
            <a:pPr>
              <a:spcBef>
                <a:spcPts val="400"/>
              </a:spcBef>
            </a:pPr>
            <a:r>
              <a:rPr sz="1500">
                <a:solidFill>
                  <a:srgbClr val="FFFFFF"/>
                </a:solidFill>
              </a:rPr>
              <a:t>• High-rent ZIPs recovered faster</a:t>
            </a:r>
          </a:p>
          <a:p>
            <a:pPr>
              <a:spcBef>
                <a:spcPts val="400"/>
              </a:spcBef>
            </a:pPr>
            <a:r>
              <a:rPr sz="1500">
                <a:solidFill>
                  <a:srgbClr val="FFFFFF"/>
                </a:solidFill>
              </a:rPr>
              <a:t>• Intra-city rent gap widened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2: Geographic Inequality</a:t>
            </a:r>
          </a:p>
        </p:txBody>
      </p:sp>
      <p:sp>
        <p:nvSpPr>
          <p:cNvPr id="4" name="TextBox 3"/>
          <p:cNvSpPr txBox="1"/>
          <p:nvPr/>
        </p:nvSpPr>
        <p:spPr>
          <a:xfrm>
            <a:off x="365760" y="594360"/>
            <a:ext cx="10972800" cy="365760"/>
          </a:xfrm>
          <a:prstGeom prst="rect">
            <a:avLst/>
          </a:prstGeom>
          <a:noFill/>
        </p:spPr>
        <p:txBody>
          <a:bodyPr wrap="square">
            <a:spAutoFit/>
          </a:bodyPr>
          <a:lstStyle/>
          <a:p>
            <a:pPr algn="l"/>
            <a:r>
              <a:rPr sz="1400" b="0">
                <a:solidFill>
                  <a:srgbClr val="CCCCCC"/>
                </a:solidFill>
              </a:rPr>
              <a:t>Cook County census tracts · 2024 ACS · Left: median rent  |  Right: % cost-burdened</a:t>
            </a:r>
          </a:p>
        </p:txBody>
      </p:sp>
      <p:pic>
        <p:nvPicPr>
          <p:cNvPr id="5" name="Picture 4" descr="choropleth_preview.png"/>
          <p:cNvPicPr>
            <a:picLocks noChangeAspect="1"/>
          </p:cNvPicPr>
          <p:nvPr/>
        </p:nvPicPr>
        <p:blipFill>
          <a:blip r:embed="rId2"/>
          <a:stretch>
            <a:fillRect/>
          </a:stretch>
        </p:blipFill>
        <p:spPr>
          <a:xfrm>
            <a:off x="365760" y="1051560"/>
            <a:ext cx="11430000" cy="548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2: Key Takeaways</a:t>
            </a:r>
          </a:p>
        </p:txBody>
      </p:sp>
      <p:sp>
        <p:nvSpPr>
          <p:cNvPr id="4" name="TextBox 3"/>
          <p:cNvSpPr txBox="1"/>
          <p:nvPr/>
        </p:nvSpPr>
        <p:spPr>
          <a:xfrm>
            <a:off x="365760" y="1188720"/>
            <a:ext cx="5669280" cy="457200"/>
          </a:xfrm>
          <a:prstGeom prst="rect">
            <a:avLst/>
          </a:prstGeom>
          <a:noFill/>
        </p:spPr>
        <p:txBody>
          <a:bodyPr wrap="square">
            <a:spAutoFit/>
          </a:bodyPr>
          <a:lstStyle/>
          <a:p>
            <a:pPr algn="l"/>
            <a:r>
              <a:rPr sz="1700" b="1">
                <a:solidFill>
                  <a:srgbClr val="FFD700"/>
                </a:solidFill>
              </a:rPr>
              <a:t>Rent Level (left map)</a:t>
            </a:r>
          </a:p>
        </p:txBody>
      </p:sp>
      <p:sp>
        <p:nvSpPr>
          <p:cNvPr id="5" name="TextBox 4"/>
          <p:cNvSpPr txBox="1"/>
          <p:nvPr/>
        </p:nvSpPr>
        <p:spPr>
          <a:xfrm>
            <a:off x="365760" y="1691640"/>
            <a:ext cx="5669280" cy="2743200"/>
          </a:xfrm>
          <a:prstGeom prst="rect">
            <a:avLst/>
          </a:prstGeom>
          <a:noFill/>
        </p:spPr>
        <p:txBody>
          <a:bodyPr wrap="square">
            <a:spAutoFit/>
          </a:bodyPr>
          <a:lstStyle/>
          <a:p>
            <a:pPr>
              <a:spcBef>
                <a:spcPts val="400"/>
              </a:spcBef>
            </a:pPr>
            <a:r>
              <a:rPr sz="1600">
                <a:solidFill>
                  <a:srgbClr val="FFFFFF"/>
                </a:solidFill>
              </a:rPr>
              <a:t>• High rents cluster in Near North Side, Lincoln Park, Lakeview (&gt;$2,000/mo)</a:t>
            </a:r>
          </a:p>
          <a:p>
            <a:pPr>
              <a:spcBef>
                <a:spcPts val="400"/>
              </a:spcBef>
            </a:pPr>
            <a:r>
              <a:rPr sz="1600">
                <a:solidFill>
                  <a:srgbClr val="FFFFFF"/>
                </a:solidFill>
              </a:rPr>
              <a:t>• South &amp; West Side tracts often below $900/mo</a:t>
            </a:r>
          </a:p>
          <a:p>
            <a:pPr>
              <a:spcBef>
                <a:spcPts val="400"/>
              </a:spcBef>
            </a:pPr>
            <a:r>
              <a:rPr sz="1600">
                <a:solidFill>
                  <a:srgbClr val="FFFFFF"/>
                </a:solidFill>
              </a:rPr>
              <a:t>• Clear North–South gradient</a:t>
            </a:r>
          </a:p>
        </p:txBody>
      </p:sp>
      <p:sp>
        <p:nvSpPr>
          <p:cNvPr id="6" name="Rectangle 5"/>
          <p:cNvSpPr/>
          <p:nvPr/>
        </p:nvSpPr>
        <p:spPr>
          <a:xfrm>
            <a:off x="6217920" y="1188720"/>
            <a:ext cx="27432" cy="502920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188720"/>
            <a:ext cx="5486400" cy="457200"/>
          </a:xfrm>
          <a:prstGeom prst="rect">
            <a:avLst/>
          </a:prstGeom>
          <a:noFill/>
        </p:spPr>
        <p:txBody>
          <a:bodyPr wrap="square">
            <a:spAutoFit/>
          </a:bodyPr>
          <a:lstStyle/>
          <a:p>
            <a:pPr algn="l"/>
            <a:r>
              <a:rPr sz="1700" b="1">
                <a:solidFill>
                  <a:srgbClr val="FFD700"/>
                </a:solidFill>
              </a:rPr>
              <a:t>Cost Burden (right map)</a:t>
            </a:r>
          </a:p>
        </p:txBody>
      </p:sp>
      <p:sp>
        <p:nvSpPr>
          <p:cNvPr id="8" name="TextBox 7"/>
          <p:cNvSpPr txBox="1"/>
          <p:nvPr/>
        </p:nvSpPr>
        <p:spPr>
          <a:xfrm>
            <a:off x="6400800" y="1691640"/>
            <a:ext cx="5486400" cy="3200400"/>
          </a:xfrm>
          <a:prstGeom prst="rect">
            <a:avLst/>
          </a:prstGeom>
          <a:noFill/>
        </p:spPr>
        <p:txBody>
          <a:bodyPr wrap="square">
            <a:spAutoFit/>
          </a:bodyPr>
          <a:lstStyle/>
          <a:p>
            <a:pPr>
              <a:spcBef>
                <a:spcPts val="400"/>
              </a:spcBef>
            </a:pPr>
            <a:r>
              <a:rPr sz="1600">
                <a:solidFill>
                  <a:srgbClr val="FFFFFF"/>
                </a:solidFill>
              </a:rPr>
              <a:t>• Severe burden ≠ highest-rent areas</a:t>
            </a:r>
          </a:p>
          <a:p>
            <a:pPr>
              <a:spcBef>
                <a:spcPts val="400"/>
              </a:spcBef>
            </a:pPr>
            <a:r>
              <a:rPr sz="1600">
                <a:solidFill>
                  <a:srgbClr val="FFFFFF"/>
                </a:solidFill>
              </a:rPr>
              <a:t>• Concentrated in South/West Side (Englewood, Austin, Garfield Park)</a:t>
            </a:r>
          </a:p>
          <a:p>
            <a:pPr>
              <a:spcBef>
                <a:spcPts val="400"/>
              </a:spcBef>
            </a:pPr>
            <a:r>
              <a:rPr sz="1600">
                <a:solidFill>
                  <a:srgbClr val="FFFFFF"/>
                </a:solidFill>
              </a:rPr>
              <a:t>• 40.7% of tracts: majority of renters are cost-burdened</a:t>
            </a:r>
          </a:p>
          <a:p>
            <a:pPr>
              <a:spcBef>
                <a:spcPts val="400"/>
              </a:spcBef>
            </a:pPr>
            <a:r>
              <a:rPr sz="1600">
                <a:solidFill>
                  <a:srgbClr val="FFFFFF"/>
                </a:solidFill>
              </a:rPr>
              <a:t>• Driven by income inadequacy, not just high rents</a:t>
            </a:r>
          </a:p>
        </p:txBody>
      </p:sp>
      <p:sp>
        <p:nvSpPr>
          <p:cNvPr id="9" name="Rectangle 8"/>
          <p:cNvSpPr/>
          <p:nvPr/>
        </p:nvSpPr>
        <p:spPr>
          <a:xfrm>
            <a:off x="365760" y="4937760"/>
            <a:ext cx="3474720" cy="1554480"/>
          </a:xfrm>
          <a:prstGeom prst="rect">
            <a:avLst/>
          </a:prstGeom>
          <a:solidFill>
            <a:srgbClr val="2A0A1A"/>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983480"/>
            <a:ext cx="3291840" cy="640080"/>
          </a:xfrm>
          <a:prstGeom prst="rect">
            <a:avLst/>
          </a:prstGeom>
          <a:noFill/>
        </p:spPr>
        <p:txBody>
          <a:bodyPr wrap="square">
            <a:spAutoFit/>
          </a:bodyPr>
          <a:lstStyle/>
          <a:p>
            <a:pPr algn="ctr"/>
            <a:r>
              <a:rPr sz="2400" b="1">
                <a:solidFill>
                  <a:srgbClr val="E45756"/>
                </a:solidFill>
              </a:rPr>
              <a:t>83.4%</a:t>
            </a:r>
          </a:p>
        </p:txBody>
      </p:sp>
      <p:sp>
        <p:nvSpPr>
          <p:cNvPr id="11" name="TextBox 10"/>
          <p:cNvSpPr txBox="1"/>
          <p:nvPr/>
        </p:nvSpPr>
        <p:spPr>
          <a:xfrm>
            <a:off x="457200" y="5577840"/>
            <a:ext cx="3291840" cy="822960"/>
          </a:xfrm>
          <a:prstGeom prst="rect">
            <a:avLst/>
          </a:prstGeom>
          <a:noFill/>
        </p:spPr>
        <p:txBody>
          <a:bodyPr wrap="square">
            <a:spAutoFit/>
          </a:bodyPr>
          <a:lstStyle/>
          <a:p>
            <a:pPr algn="ctr"/>
            <a:r>
              <a:rPr sz="1200" b="0">
                <a:solidFill>
                  <a:srgbClr val="CCCCCC"/>
                </a:solidFill>
              </a:rPr>
              <a:t>of tracts exceed
HUD 30% threshold</a:t>
            </a:r>
          </a:p>
        </p:txBody>
      </p:sp>
      <p:sp>
        <p:nvSpPr>
          <p:cNvPr id="12" name="Rectangle 11"/>
          <p:cNvSpPr/>
          <p:nvPr/>
        </p:nvSpPr>
        <p:spPr>
          <a:xfrm>
            <a:off x="4114800" y="4937760"/>
            <a:ext cx="3474720" cy="1554480"/>
          </a:xfrm>
          <a:prstGeom prst="rect">
            <a:avLst/>
          </a:prstGeom>
          <a:solidFill>
            <a:srgbClr val="2A0A1A"/>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4983480"/>
            <a:ext cx="3291840" cy="640080"/>
          </a:xfrm>
          <a:prstGeom prst="rect">
            <a:avLst/>
          </a:prstGeom>
          <a:noFill/>
        </p:spPr>
        <p:txBody>
          <a:bodyPr wrap="square">
            <a:spAutoFit/>
          </a:bodyPr>
          <a:lstStyle/>
          <a:p>
            <a:pPr algn="ctr"/>
            <a:r>
              <a:rPr sz="2400" b="1">
                <a:solidFill>
                  <a:srgbClr val="E45756"/>
                </a:solidFill>
              </a:rPr>
              <a:t>40.7%</a:t>
            </a:r>
          </a:p>
        </p:txBody>
      </p:sp>
      <p:sp>
        <p:nvSpPr>
          <p:cNvPr id="14" name="TextBox 13"/>
          <p:cNvSpPr txBox="1"/>
          <p:nvPr/>
        </p:nvSpPr>
        <p:spPr>
          <a:xfrm>
            <a:off x="4206240" y="5577840"/>
            <a:ext cx="3291840" cy="822960"/>
          </a:xfrm>
          <a:prstGeom prst="rect">
            <a:avLst/>
          </a:prstGeom>
          <a:noFill/>
        </p:spPr>
        <p:txBody>
          <a:bodyPr wrap="square">
            <a:spAutoFit/>
          </a:bodyPr>
          <a:lstStyle/>
          <a:p>
            <a:pPr algn="ctr"/>
            <a:r>
              <a:rPr sz="1200" b="0">
                <a:solidFill>
                  <a:srgbClr val="CCCCCC"/>
                </a:solidFill>
              </a:rPr>
              <a:t>of tracts have &gt;50%
renters burdened</a:t>
            </a:r>
          </a:p>
        </p:txBody>
      </p:sp>
      <p:sp>
        <p:nvSpPr>
          <p:cNvPr id="15" name="Rectangle 14"/>
          <p:cNvSpPr/>
          <p:nvPr/>
        </p:nvSpPr>
        <p:spPr>
          <a:xfrm>
            <a:off x="7863840" y="4937760"/>
            <a:ext cx="3474720" cy="1554480"/>
          </a:xfrm>
          <a:prstGeom prst="rect">
            <a:avLst/>
          </a:prstGeom>
          <a:solidFill>
            <a:srgbClr val="2A0A1A"/>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0" y="4983480"/>
            <a:ext cx="3291840" cy="640080"/>
          </a:xfrm>
          <a:prstGeom prst="rect">
            <a:avLst/>
          </a:prstGeom>
          <a:noFill/>
        </p:spPr>
        <p:txBody>
          <a:bodyPr wrap="square">
            <a:spAutoFit/>
          </a:bodyPr>
          <a:lstStyle/>
          <a:p>
            <a:pPr algn="ctr"/>
            <a:r>
              <a:rPr sz="2400" b="1">
                <a:solidFill>
                  <a:srgbClr val="E45756"/>
                </a:solidFill>
              </a:rPr>
              <a:t>$1,100+</a:t>
            </a:r>
          </a:p>
        </p:txBody>
      </p:sp>
      <p:sp>
        <p:nvSpPr>
          <p:cNvPr id="17" name="TextBox 16"/>
          <p:cNvSpPr txBox="1"/>
          <p:nvPr/>
        </p:nvSpPr>
        <p:spPr>
          <a:xfrm>
            <a:off x="7955280" y="5577840"/>
            <a:ext cx="3291840" cy="822960"/>
          </a:xfrm>
          <a:prstGeom prst="rect">
            <a:avLst/>
          </a:prstGeom>
          <a:noFill/>
        </p:spPr>
        <p:txBody>
          <a:bodyPr wrap="square">
            <a:spAutoFit/>
          </a:bodyPr>
          <a:lstStyle/>
          <a:p>
            <a:pPr algn="ctr"/>
            <a:r>
              <a:rPr sz="1200" b="0">
                <a:solidFill>
                  <a:srgbClr val="CCCCCC"/>
                </a:solidFill>
              </a:rPr>
              <a:t>median rent gap
North vs South Side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3: Affordability Distribution</a:t>
            </a:r>
          </a:p>
        </p:txBody>
      </p:sp>
      <p:sp>
        <p:nvSpPr>
          <p:cNvPr id="4" name="TextBox 3"/>
          <p:cNvSpPr txBox="1"/>
          <p:nvPr/>
        </p:nvSpPr>
        <p:spPr>
          <a:xfrm>
            <a:off x="365760" y="594360"/>
            <a:ext cx="10972800" cy="365760"/>
          </a:xfrm>
          <a:prstGeom prst="rect">
            <a:avLst/>
          </a:prstGeom>
          <a:noFill/>
        </p:spPr>
        <p:txBody>
          <a:bodyPr wrap="square">
            <a:spAutoFit/>
          </a:bodyPr>
          <a:lstStyle/>
          <a:p>
            <a:pPr algn="l"/>
            <a:r>
              <a:rPr sz="1400" b="0">
                <a:solidFill>
                  <a:srgbClr val="CCCCCC"/>
                </a:solidFill>
              </a:rPr>
              <a:t>Cook County census tracts · 2024 ACS · Left: RTI histogram  |  Right: cumulative burden rate</a:t>
            </a:r>
          </a:p>
        </p:txBody>
      </p:sp>
      <p:pic>
        <p:nvPicPr>
          <p:cNvPr id="5" name="Picture 4" descr="slide_distribution.png"/>
          <p:cNvPicPr>
            <a:picLocks noChangeAspect="1"/>
          </p:cNvPicPr>
          <p:nvPr/>
        </p:nvPicPr>
        <p:blipFill>
          <a:blip r:embed="rId2"/>
          <a:stretch>
            <a:fillRect/>
          </a:stretch>
        </p:blipFill>
        <p:spPr>
          <a:xfrm>
            <a:off x="731520" y="1097280"/>
            <a:ext cx="10698480" cy="5303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Finding 3: Key Takeaways</a:t>
            </a:r>
          </a:p>
        </p:txBody>
      </p:sp>
      <p:sp>
        <p:nvSpPr>
          <p:cNvPr id="4" name="TextBox 3"/>
          <p:cNvSpPr txBox="1"/>
          <p:nvPr/>
        </p:nvSpPr>
        <p:spPr>
          <a:xfrm>
            <a:off x="457200" y="1280160"/>
            <a:ext cx="11247120" cy="5029200"/>
          </a:xfrm>
          <a:prstGeom prst="rect">
            <a:avLst/>
          </a:prstGeom>
          <a:noFill/>
        </p:spPr>
        <p:txBody>
          <a:bodyPr wrap="square">
            <a:spAutoFit/>
          </a:bodyPr>
          <a:lstStyle/>
          <a:p>
            <a:pPr>
              <a:spcBef>
                <a:spcPts val="400"/>
              </a:spcBef>
            </a:pPr>
            <a:r>
              <a:rPr sz="1900">
                <a:solidFill>
                  <a:srgbClr val="FFFFFF"/>
                </a:solidFill>
              </a:rPr>
              <a:t>• Median rent-to-income ratio across Cook County: 21.9% — looks OK at the aggregate...</a:t>
            </a:r>
          </a:p>
          <a:p>
            <a:pPr>
              <a:spcBef>
                <a:spcPts val="400"/>
              </a:spcBef>
            </a:pPr>
            <a:r>
              <a:rPr sz="1900">
                <a:solidFill>
                  <a:srgbClr val="FFFFFF"/>
                </a:solidFill>
              </a:rPr>
              <a:t>• But 83.4% of tracts have &gt;30% of their renters cost-burdened</a:t>
            </a:r>
          </a:p>
          <a:p>
            <a:pPr>
              <a:spcBef>
                <a:spcPts val="400"/>
              </a:spcBef>
            </a:pPr>
            <a:r>
              <a:rPr sz="1900">
                <a:solidFill>
                  <a:srgbClr val="FFFFFF"/>
                </a:solidFill>
              </a:rPr>
              <a:t>• 40.7% of tracts exceed the 50% threshold — the majority of renters in those tracts</a:t>
            </a:r>
          </a:p>
          <a:p>
            <a:pPr>
              <a:spcBef>
                <a:spcPts val="400"/>
              </a:spcBef>
            </a:pPr>
            <a:r>
              <a:rPr sz="1900">
                <a:solidFill>
                  <a:srgbClr val="FFFFFF"/>
                </a:solidFill>
              </a:rPr>
              <a:t>• "Severe" tracts (&gt;70% burdened) appear across the full RTI range: burden is driven by low income, not just high rent</a:t>
            </a:r>
          </a:p>
          <a:p>
            <a:pPr>
              <a:spcBef>
                <a:spcPts val="400"/>
              </a:spcBef>
            </a:pPr>
            <a:r>
              <a:rPr sz="1900">
                <a:solidFill>
                  <a:srgbClr val="FFFFFF"/>
                </a:solidFill>
              </a:rPr>
              <a:t>• Only ~17% of tracts fall below the HUD affordability threshold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Interactive Dashboard</a:t>
            </a:r>
          </a:p>
        </p:txBody>
      </p:sp>
      <p:sp>
        <p:nvSpPr>
          <p:cNvPr id="4" name="TextBox 3"/>
          <p:cNvSpPr txBox="1"/>
          <p:nvPr/>
        </p:nvSpPr>
        <p:spPr>
          <a:xfrm>
            <a:off x="365760" y="594360"/>
            <a:ext cx="10972800" cy="365760"/>
          </a:xfrm>
          <a:prstGeom prst="rect">
            <a:avLst/>
          </a:prstGeom>
          <a:noFill/>
        </p:spPr>
        <p:txBody>
          <a:bodyPr wrap="square">
            <a:spAutoFit/>
          </a:bodyPr>
          <a:lstStyle/>
          <a:p>
            <a:pPr algn="l"/>
            <a:r>
              <a:rPr sz="1400" b="0">
                <a:solidFill>
                  <a:srgbClr val="CCCCCC"/>
                </a:solidFill>
              </a:rPr>
              <a:t>Live Streamlit App — link TBD</a:t>
            </a:r>
          </a:p>
        </p:txBody>
      </p:sp>
      <p:sp>
        <p:nvSpPr>
          <p:cNvPr id="5" name="Rectangle 4"/>
          <p:cNvSpPr/>
          <p:nvPr/>
        </p:nvSpPr>
        <p:spPr>
          <a:xfrm>
            <a:off x="365760" y="1188720"/>
            <a:ext cx="3657600" cy="4572000"/>
          </a:xfrm>
          <a:prstGeom prst="rect">
            <a:avLst/>
          </a:prstGeom>
          <a:solidFill>
            <a:srgbClr val="202038"/>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80160"/>
            <a:ext cx="3383280" cy="822960"/>
          </a:xfrm>
          <a:prstGeom prst="rect">
            <a:avLst/>
          </a:prstGeom>
          <a:noFill/>
        </p:spPr>
        <p:txBody>
          <a:bodyPr wrap="square">
            <a:spAutoFit/>
          </a:bodyPr>
          <a:lstStyle/>
          <a:p>
            <a:pPr algn="l"/>
            <a:r>
              <a:rPr sz="1600" b="1">
                <a:solidFill>
                  <a:srgbClr val="E45756"/>
                </a:solidFill>
              </a:rPr>
              <a:t>Tab 1
Rent Trends</a:t>
            </a:r>
          </a:p>
        </p:txBody>
      </p:sp>
      <p:sp>
        <p:nvSpPr>
          <p:cNvPr id="7" name="TextBox 6"/>
          <p:cNvSpPr txBox="1"/>
          <p:nvPr/>
        </p:nvSpPr>
        <p:spPr>
          <a:xfrm>
            <a:off x="502920" y="2103120"/>
            <a:ext cx="3383280" cy="3200400"/>
          </a:xfrm>
          <a:prstGeom prst="rect">
            <a:avLst/>
          </a:prstGeom>
          <a:noFill/>
        </p:spPr>
        <p:txBody>
          <a:bodyPr wrap="square">
            <a:spAutoFit/>
          </a:bodyPr>
          <a:lstStyle/>
          <a:p>
            <a:pPr>
              <a:spcBef>
                <a:spcPts val="400"/>
              </a:spcBef>
            </a:pPr>
            <a:r>
              <a:rPr sz="1400">
                <a:solidFill>
                  <a:srgbClr val="FFFFFF"/>
                </a:solidFill>
              </a:rPr>
              <a:t>• Multi-select ZIP codes &amp; cities</a:t>
            </a:r>
          </a:p>
          <a:p>
            <a:pPr>
              <a:spcBef>
                <a:spcPts val="400"/>
              </a:spcBef>
            </a:pPr>
            <a:r>
              <a:rPr sz="1400">
                <a:solidFill>
                  <a:srgbClr val="FFFFFF"/>
                </a:solidFill>
              </a:rPr>
              <a:t>• Year range slider</a:t>
            </a:r>
          </a:p>
          <a:p>
            <a:pPr>
              <a:spcBef>
                <a:spcPts val="400"/>
              </a:spcBef>
            </a:pPr>
            <a:r>
              <a:rPr sz="1400">
                <a:solidFill>
                  <a:srgbClr val="FFFFFF"/>
                </a:solidFill>
              </a:rPr>
              <a:t>• Policy event overlay toggle</a:t>
            </a:r>
          </a:p>
          <a:p>
            <a:pPr>
              <a:spcBef>
                <a:spcPts val="400"/>
              </a:spcBef>
            </a:pPr>
            <a:r>
              <a:rPr sz="1400">
                <a:solidFill>
                  <a:srgbClr val="FFFFFF"/>
                </a:solidFill>
              </a:rPr>
              <a:t>• Summary stats table</a:t>
            </a:r>
          </a:p>
        </p:txBody>
      </p:sp>
      <p:sp>
        <p:nvSpPr>
          <p:cNvPr id="8" name="Rectangle 7"/>
          <p:cNvSpPr/>
          <p:nvPr/>
        </p:nvSpPr>
        <p:spPr>
          <a:xfrm>
            <a:off x="4297680" y="1188720"/>
            <a:ext cx="3657600" cy="4572000"/>
          </a:xfrm>
          <a:prstGeom prst="rect">
            <a:avLst/>
          </a:prstGeom>
          <a:solidFill>
            <a:srgbClr val="202038"/>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280160"/>
            <a:ext cx="3383280" cy="822960"/>
          </a:xfrm>
          <a:prstGeom prst="rect">
            <a:avLst/>
          </a:prstGeom>
          <a:noFill/>
        </p:spPr>
        <p:txBody>
          <a:bodyPr wrap="square">
            <a:spAutoFit/>
          </a:bodyPr>
          <a:lstStyle/>
          <a:p>
            <a:pPr algn="l"/>
            <a:r>
              <a:rPr sz="1600" b="1">
                <a:solidFill>
                  <a:srgbClr val="E45756"/>
                </a:solidFill>
              </a:rPr>
              <a:t>Tab 2
Choropleth Map</a:t>
            </a:r>
          </a:p>
        </p:txBody>
      </p:sp>
      <p:sp>
        <p:nvSpPr>
          <p:cNvPr id="10" name="TextBox 9"/>
          <p:cNvSpPr txBox="1"/>
          <p:nvPr/>
        </p:nvSpPr>
        <p:spPr>
          <a:xfrm>
            <a:off x="4434840" y="2103120"/>
            <a:ext cx="3383280" cy="3200400"/>
          </a:xfrm>
          <a:prstGeom prst="rect">
            <a:avLst/>
          </a:prstGeom>
          <a:noFill/>
        </p:spPr>
        <p:txBody>
          <a:bodyPr wrap="square">
            <a:spAutoFit/>
          </a:bodyPr>
          <a:lstStyle/>
          <a:p>
            <a:pPr>
              <a:spcBef>
                <a:spcPts val="400"/>
              </a:spcBef>
            </a:pPr>
            <a:r>
              <a:rPr sz="1400">
                <a:solidFill>
                  <a:srgbClr val="FFFFFF"/>
                </a:solidFill>
              </a:rPr>
              <a:t>• Switch: rent / RTI / burden rate</a:t>
            </a:r>
          </a:p>
          <a:p>
            <a:pPr>
              <a:spcBef>
                <a:spcPts val="400"/>
              </a:spcBef>
            </a:pPr>
            <a:r>
              <a:rPr sz="1400">
                <a:solidFill>
                  <a:srgbClr val="FFFFFF"/>
                </a:solidFill>
              </a:rPr>
              <a:t>• Adjustable color scheme</a:t>
            </a:r>
          </a:p>
          <a:p>
            <a:pPr>
              <a:spcBef>
                <a:spcPts val="400"/>
              </a:spcBef>
            </a:pPr>
            <a:r>
              <a:rPr sz="1400">
                <a:solidFill>
                  <a:srgbClr val="FFFFFF"/>
                </a:solidFill>
              </a:rPr>
              <a:t>• Top 10 burdened tracts table</a:t>
            </a:r>
          </a:p>
        </p:txBody>
      </p:sp>
      <p:sp>
        <p:nvSpPr>
          <p:cNvPr id="11" name="Rectangle 10"/>
          <p:cNvSpPr/>
          <p:nvPr/>
        </p:nvSpPr>
        <p:spPr>
          <a:xfrm>
            <a:off x="8229600" y="1188720"/>
            <a:ext cx="3657600" cy="4572000"/>
          </a:xfrm>
          <a:prstGeom prst="rect">
            <a:avLst/>
          </a:prstGeom>
          <a:solidFill>
            <a:srgbClr val="202038"/>
          </a:solidFill>
          <a:ln>
            <a:solidFill>
              <a:srgbClr val="E45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6760" y="1280160"/>
            <a:ext cx="3383280" cy="822960"/>
          </a:xfrm>
          <a:prstGeom prst="rect">
            <a:avLst/>
          </a:prstGeom>
          <a:noFill/>
        </p:spPr>
        <p:txBody>
          <a:bodyPr wrap="square">
            <a:spAutoFit/>
          </a:bodyPr>
          <a:lstStyle/>
          <a:p>
            <a:pPr algn="l"/>
            <a:r>
              <a:rPr sz="1600" b="1">
                <a:solidFill>
                  <a:srgbClr val="E45756"/>
                </a:solidFill>
              </a:rPr>
              <a:t>Tab 3
Distribution</a:t>
            </a:r>
          </a:p>
        </p:txBody>
      </p:sp>
      <p:sp>
        <p:nvSpPr>
          <p:cNvPr id="13" name="TextBox 12"/>
          <p:cNvSpPr txBox="1"/>
          <p:nvPr/>
        </p:nvSpPr>
        <p:spPr>
          <a:xfrm>
            <a:off x="8366760" y="2103120"/>
            <a:ext cx="3383280" cy="3200400"/>
          </a:xfrm>
          <a:prstGeom prst="rect">
            <a:avLst/>
          </a:prstGeom>
          <a:noFill/>
        </p:spPr>
        <p:txBody>
          <a:bodyPr wrap="square">
            <a:spAutoFit/>
          </a:bodyPr>
          <a:lstStyle/>
          <a:p>
            <a:pPr>
              <a:spcBef>
                <a:spcPts val="400"/>
              </a:spcBef>
            </a:pPr>
            <a:r>
              <a:rPr sz="1400">
                <a:solidFill>
                  <a:srgbClr val="FFFFFF"/>
                </a:solidFill>
              </a:rPr>
              <a:t>• RTI histogram (interactive)</a:t>
            </a:r>
          </a:p>
          <a:p>
            <a:pPr>
              <a:spcBef>
                <a:spcPts val="400"/>
              </a:spcBef>
            </a:pPr>
            <a:r>
              <a:rPr sz="1400">
                <a:solidFill>
                  <a:srgbClr val="FFFFFF"/>
                </a:solidFill>
              </a:rPr>
              <a:t>• Cumulative burden ECDF</a:t>
            </a:r>
          </a:p>
          <a:p>
            <a:pPr>
              <a:spcBef>
                <a:spcPts val="400"/>
              </a:spcBef>
            </a:pPr>
            <a:r>
              <a:rPr sz="1400">
                <a:solidFill>
                  <a:srgbClr val="FFFFFF"/>
                </a:solidFill>
              </a:rPr>
              <a:t>• Rent vs. burden scatter plot</a:t>
            </a:r>
          </a:p>
        </p:txBody>
      </p:sp>
      <p:sp>
        <p:nvSpPr>
          <p:cNvPr id="14" name="TextBox 13"/>
          <p:cNvSpPr txBox="1"/>
          <p:nvPr/>
        </p:nvSpPr>
        <p:spPr>
          <a:xfrm>
            <a:off x="365760" y="5989320"/>
            <a:ext cx="11430000" cy="457200"/>
          </a:xfrm>
          <a:prstGeom prst="rect">
            <a:avLst/>
          </a:prstGeom>
          <a:noFill/>
        </p:spPr>
        <p:txBody>
          <a:bodyPr wrap="square">
            <a:spAutoFit/>
          </a:bodyPr>
          <a:lstStyle/>
          <a:p>
            <a:pPr algn="l"/>
            <a:r>
              <a:rPr sz="1300" b="0">
                <a:solidFill>
                  <a:srgbClr val="FFA500"/>
                </a:solidFill>
              </a:rPr>
              <a:t>⚠  Remember to wake up the app the night before the presentation.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Policy Implications</a:t>
            </a:r>
          </a:p>
        </p:txBody>
      </p:sp>
      <p:sp>
        <p:nvSpPr>
          <p:cNvPr id="4" name="Rectangle 3"/>
          <p:cNvSpPr/>
          <p:nvPr/>
        </p:nvSpPr>
        <p:spPr>
          <a:xfrm>
            <a:off x="274320" y="1188720"/>
            <a:ext cx="5943600" cy="384048"/>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 y="1234440"/>
            <a:ext cx="5943600" cy="320040"/>
          </a:xfrm>
          <a:prstGeom prst="rect">
            <a:avLst/>
          </a:prstGeom>
          <a:noFill/>
        </p:spPr>
        <p:txBody>
          <a:bodyPr wrap="square">
            <a:spAutoFit/>
          </a:bodyPr>
          <a:lstStyle/>
          <a:p>
            <a:pPr algn="l"/>
            <a:r>
              <a:rPr sz="1400" b="1">
                <a:solidFill>
                  <a:srgbClr val="FFFFFF"/>
                </a:solidFill>
              </a:rPr>
              <a:t>Finding</a:t>
            </a:r>
          </a:p>
        </p:txBody>
      </p:sp>
      <p:sp>
        <p:nvSpPr>
          <p:cNvPr id="6" name="Rectangle 5"/>
          <p:cNvSpPr/>
          <p:nvPr/>
        </p:nvSpPr>
        <p:spPr>
          <a:xfrm>
            <a:off x="6400800" y="1188720"/>
            <a:ext cx="5486400" cy="384048"/>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3952" y="1234440"/>
            <a:ext cx="5486400" cy="320040"/>
          </a:xfrm>
          <a:prstGeom prst="rect">
            <a:avLst/>
          </a:prstGeom>
          <a:noFill/>
        </p:spPr>
        <p:txBody>
          <a:bodyPr wrap="square">
            <a:spAutoFit/>
          </a:bodyPr>
          <a:lstStyle/>
          <a:p>
            <a:pPr algn="l"/>
            <a:r>
              <a:rPr sz="1400" b="1">
                <a:solidFill>
                  <a:srgbClr val="FFFFFF"/>
                </a:solidFill>
              </a:rPr>
              <a:t>Policy Recommendation</a:t>
            </a:r>
          </a:p>
        </p:txBody>
      </p:sp>
      <p:sp>
        <p:nvSpPr>
          <p:cNvPr id="8" name="Rectangle 7"/>
          <p:cNvSpPr/>
          <p:nvPr/>
        </p:nvSpPr>
        <p:spPr>
          <a:xfrm>
            <a:off x="274320" y="1572768"/>
            <a:ext cx="5943600" cy="64008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618488"/>
            <a:ext cx="5852160" cy="594360"/>
          </a:xfrm>
          <a:prstGeom prst="rect">
            <a:avLst/>
          </a:prstGeom>
          <a:noFill/>
        </p:spPr>
        <p:txBody>
          <a:bodyPr wrap="square">
            <a:spAutoFit/>
          </a:bodyPr>
          <a:lstStyle/>
          <a:p>
            <a:pPr algn="l"/>
            <a:r>
              <a:rPr sz="1200" b="0">
                <a:solidFill>
                  <a:srgbClr val="FFFFFF"/>
                </a:solidFill>
              </a:rPr>
              <a:t>+12% rent surge after moratorium ends</a:t>
            </a:r>
          </a:p>
        </p:txBody>
      </p:sp>
      <p:sp>
        <p:nvSpPr>
          <p:cNvPr id="10" name="Rectangle 9"/>
          <p:cNvSpPr/>
          <p:nvPr/>
        </p:nvSpPr>
        <p:spPr>
          <a:xfrm>
            <a:off x="6400800" y="1572768"/>
            <a:ext cx="5486400" cy="64008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1618488"/>
            <a:ext cx="5394960" cy="594360"/>
          </a:xfrm>
          <a:prstGeom prst="rect">
            <a:avLst/>
          </a:prstGeom>
          <a:noFill/>
        </p:spPr>
        <p:txBody>
          <a:bodyPr wrap="square">
            <a:spAutoFit/>
          </a:bodyPr>
          <a:lstStyle/>
          <a:p>
            <a:pPr algn="l"/>
            <a:r>
              <a:rPr sz="1200" b="0">
                <a:solidFill>
                  <a:srgbClr val="CCCCCC"/>
                </a:solidFill>
              </a:rPr>
              <a:t>Stronger tenant relocation assistance &amp; just-cause eviction protections</a:t>
            </a:r>
          </a:p>
        </p:txBody>
      </p:sp>
      <p:sp>
        <p:nvSpPr>
          <p:cNvPr id="12" name="Rectangle 11"/>
          <p:cNvSpPr/>
          <p:nvPr/>
        </p:nvSpPr>
        <p:spPr>
          <a:xfrm>
            <a:off x="274320" y="2258568"/>
            <a:ext cx="5943600" cy="64008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2304288"/>
            <a:ext cx="5852160" cy="594360"/>
          </a:xfrm>
          <a:prstGeom prst="rect">
            <a:avLst/>
          </a:prstGeom>
          <a:noFill/>
        </p:spPr>
        <p:txBody>
          <a:bodyPr wrap="square">
            <a:spAutoFit/>
          </a:bodyPr>
          <a:lstStyle/>
          <a:p>
            <a:pPr algn="l"/>
            <a:r>
              <a:rPr sz="1200" b="0">
                <a:solidFill>
                  <a:srgbClr val="FFFFFF"/>
                </a:solidFill>
              </a:rPr>
              <a:t>Severe burden in South/West corridors</a:t>
            </a:r>
          </a:p>
        </p:txBody>
      </p:sp>
      <p:sp>
        <p:nvSpPr>
          <p:cNvPr id="14" name="Rectangle 13"/>
          <p:cNvSpPr/>
          <p:nvPr/>
        </p:nvSpPr>
        <p:spPr>
          <a:xfrm>
            <a:off x="6400800" y="2258568"/>
            <a:ext cx="5486400" cy="64008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2304288"/>
            <a:ext cx="5394960" cy="594360"/>
          </a:xfrm>
          <a:prstGeom prst="rect">
            <a:avLst/>
          </a:prstGeom>
          <a:noFill/>
        </p:spPr>
        <p:txBody>
          <a:bodyPr wrap="square">
            <a:spAutoFit/>
          </a:bodyPr>
          <a:lstStyle/>
          <a:p>
            <a:pPr algn="l"/>
            <a:r>
              <a:rPr sz="1200" b="0">
                <a:solidFill>
                  <a:srgbClr val="CCCCCC"/>
                </a:solidFill>
              </a:rPr>
              <a:t>Target vouchers &amp; affordable unit production to high-burden areas</a:t>
            </a:r>
          </a:p>
        </p:txBody>
      </p:sp>
      <p:sp>
        <p:nvSpPr>
          <p:cNvPr id="16" name="Rectangle 15"/>
          <p:cNvSpPr/>
          <p:nvPr/>
        </p:nvSpPr>
        <p:spPr>
          <a:xfrm>
            <a:off x="274320" y="2944368"/>
            <a:ext cx="5943600" cy="64008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2990088"/>
            <a:ext cx="5852160" cy="594360"/>
          </a:xfrm>
          <a:prstGeom prst="rect">
            <a:avLst/>
          </a:prstGeom>
          <a:noFill/>
        </p:spPr>
        <p:txBody>
          <a:bodyPr wrap="square">
            <a:spAutoFit/>
          </a:bodyPr>
          <a:lstStyle/>
          <a:p>
            <a:pPr algn="l"/>
            <a:r>
              <a:rPr sz="1200" b="0">
                <a:solidFill>
                  <a:srgbClr val="FFFFFF"/>
                </a:solidFill>
              </a:rPr>
              <a:t>83% of tracts exceed HUD threshold</a:t>
            </a:r>
          </a:p>
        </p:txBody>
      </p:sp>
      <p:sp>
        <p:nvSpPr>
          <p:cNvPr id="18" name="Rectangle 17"/>
          <p:cNvSpPr/>
          <p:nvPr/>
        </p:nvSpPr>
        <p:spPr>
          <a:xfrm>
            <a:off x="6400800" y="2944368"/>
            <a:ext cx="5486400" cy="64008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2990088"/>
            <a:ext cx="5394960" cy="594360"/>
          </a:xfrm>
          <a:prstGeom prst="rect">
            <a:avLst/>
          </a:prstGeom>
          <a:noFill/>
        </p:spPr>
        <p:txBody>
          <a:bodyPr wrap="square">
            <a:spAutoFit/>
          </a:bodyPr>
          <a:lstStyle/>
          <a:p>
            <a:pPr algn="l"/>
            <a:r>
              <a:rPr sz="1200" b="0">
                <a:solidFill>
                  <a:srgbClr val="CCCCCC"/>
                </a:solidFill>
              </a:rPr>
              <a:t>Expand rental assistance eligibility — current scale is insufficient</a:t>
            </a:r>
          </a:p>
        </p:txBody>
      </p:sp>
      <p:sp>
        <p:nvSpPr>
          <p:cNvPr id="20" name="Rectangle 19"/>
          <p:cNvSpPr/>
          <p:nvPr/>
        </p:nvSpPr>
        <p:spPr>
          <a:xfrm>
            <a:off x="274320" y="3630168"/>
            <a:ext cx="5943600" cy="64008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7472" y="3675888"/>
            <a:ext cx="5852160" cy="594360"/>
          </a:xfrm>
          <a:prstGeom prst="rect">
            <a:avLst/>
          </a:prstGeom>
          <a:noFill/>
        </p:spPr>
        <p:txBody>
          <a:bodyPr wrap="square">
            <a:spAutoFit/>
          </a:bodyPr>
          <a:lstStyle/>
          <a:p>
            <a:pPr algn="l"/>
            <a:r>
              <a:rPr sz="1200" b="0">
                <a:solidFill>
                  <a:srgbClr val="FFFFFF"/>
                </a:solidFill>
              </a:rPr>
              <a:t>North Side rent appreciation gap</a:t>
            </a:r>
          </a:p>
        </p:txBody>
      </p:sp>
      <p:sp>
        <p:nvSpPr>
          <p:cNvPr id="22" name="Rectangle 21"/>
          <p:cNvSpPr/>
          <p:nvPr/>
        </p:nvSpPr>
        <p:spPr>
          <a:xfrm>
            <a:off x="6400800" y="3630168"/>
            <a:ext cx="5486400" cy="640080"/>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3952" y="3675888"/>
            <a:ext cx="5394960" cy="594360"/>
          </a:xfrm>
          <a:prstGeom prst="rect">
            <a:avLst/>
          </a:prstGeom>
          <a:noFill/>
        </p:spPr>
        <p:txBody>
          <a:bodyPr wrap="square">
            <a:spAutoFit/>
          </a:bodyPr>
          <a:lstStyle/>
          <a:p>
            <a:pPr algn="l"/>
            <a:r>
              <a:rPr sz="1200" b="0">
                <a:solidFill>
                  <a:srgbClr val="CCCCCC"/>
                </a:solidFill>
              </a:rPr>
              <a:t>Anti-displacement zoning overlays in rapidly appreciating neighborhoods</a:t>
            </a:r>
          </a:p>
        </p:txBody>
      </p:sp>
      <p:sp>
        <p:nvSpPr>
          <p:cNvPr id="24" name="TextBox 23"/>
          <p:cNvSpPr txBox="1"/>
          <p:nvPr/>
        </p:nvSpPr>
        <p:spPr>
          <a:xfrm>
            <a:off x="274320" y="5349240"/>
            <a:ext cx="11612880" cy="457200"/>
          </a:xfrm>
          <a:prstGeom prst="rect">
            <a:avLst/>
          </a:prstGeom>
          <a:noFill/>
        </p:spPr>
        <p:txBody>
          <a:bodyPr wrap="square">
            <a:spAutoFit/>
          </a:bodyPr>
          <a:lstStyle/>
          <a:p>
            <a:pPr algn="l"/>
            <a:r>
              <a:rPr sz="1300" b="1">
                <a:solidFill>
                  <a:srgbClr val="FFD700"/>
                </a:solidFill>
              </a:rPr>
              <a:t>Chicago's Affordable Requirements Ordinance (ARO) needs stronger income targeting and enforcement.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548640"/>
          </a:xfrm>
          <a:prstGeom prst="rect">
            <a:avLst/>
          </a:prstGeom>
          <a:noFill/>
        </p:spPr>
        <p:txBody>
          <a:bodyPr wrap="square">
            <a:spAutoFit/>
          </a:bodyPr>
          <a:lstStyle/>
          <a:p>
            <a:pPr algn="l"/>
            <a:r>
              <a:rPr sz="2800" b="1">
                <a:solidFill>
                  <a:srgbClr val="FFD700"/>
                </a:solidFill>
              </a:rPr>
              <a:t>Conclusion</a:t>
            </a:r>
          </a:p>
        </p:txBody>
      </p:sp>
      <p:sp>
        <p:nvSpPr>
          <p:cNvPr id="4" name="Rectangle 3"/>
          <p:cNvSpPr/>
          <p:nvPr/>
        </p:nvSpPr>
        <p:spPr>
          <a:xfrm>
            <a:off x="274320" y="1234440"/>
            <a:ext cx="502920" cy="50292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234440"/>
            <a:ext cx="502920" cy="502920"/>
          </a:xfrm>
          <a:prstGeom prst="rect">
            <a:avLst/>
          </a:prstGeom>
          <a:noFill/>
        </p:spPr>
        <p:txBody>
          <a:bodyPr wrap="square">
            <a:spAutoFit/>
          </a:bodyPr>
          <a:lstStyle/>
          <a:p>
            <a:pPr algn="ctr"/>
            <a:r>
              <a:rPr sz="1800" b="1">
                <a:solidFill>
                  <a:srgbClr val="FFFFFF"/>
                </a:solidFill>
              </a:rPr>
              <a:t>1</a:t>
            </a:r>
          </a:p>
        </p:txBody>
      </p:sp>
      <p:sp>
        <p:nvSpPr>
          <p:cNvPr id="6" name="TextBox 5"/>
          <p:cNvSpPr txBox="1"/>
          <p:nvPr/>
        </p:nvSpPr>
        <p:spPr>
          <a:xfrm>
            <a:off x="914400" y="1234440"/>
            <a:ext cx="10881360" cy="1005840"/>
          </a:xfrm>
          <a:prstGeom prst="rect">
            <a:avLst/>
          </a:prstGeom>
          <a:noFill/>
        </p:spPr>
        <p:txBody>
          <a:bodyPr wrap="square">
            <a:spAutoFit/>
          </a:bodyPr>
          <a:lstStyle/>
          <a:p>
            <a:pPr algn="l"/>
            <a:r>
              <a:rPr sz="1700" b="0">
                <a:solidFill>
                  <a:srgbClr val="FFFFFF"/>
                </a:solidFill>
              </a:rPr>
              <a:t>Rents rose 21.9% from 2015–2024, with the sharpest acceleration post-moratorium (2022–2024).</a:t>
            </a:r>
          </a:p>
        </p:txBody>
      </p:sp>
      <p:sp>
        <p:nvSpPr>
          <p:cNvPr id="7" name="Rectangle 6"/>
          <p:cNvSpPr/>
          <p:nvPr/>
        </p:nvSpPr>
        <p:spPr>
          <a:xfrm>
            <a:off x="274320" y="2468880"/>
            <a:ext cx="502920" cy="50292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2468880"/>
            <a:ext cx="502920" cy="502920"/>
          </a:xfrm>
          <a:prstGeom prst="rect">
            <a:avLst/>
          </a:prstGeom>
          <a:noFill/>
        </p:spPr>
        <p:txBody>
          <a:bodyPr wrap="square">
            <a:spAutoFit/>
          </a:bodyPr>
          <a:lstStyle/>
          <a:p>
            <a:pPr algn="ctr"/>
            <a:r>
              <a:rPr sz="1800" b="1">
                <a:solidFill>
                  <a:srgbClr val="FFFFFF"/>
                </a:solidFill>
              </a:rPr>
              <a:t>2</a:t>
            </a:r>
          </a:p>
        </p:txBody>
      </p:sp>
      <p:sp>
        <p:nvSpPr>
          <p:cNvPr id="9" name="TextBox 8"/>
          <p:cNvSpPr txBox="1"/>
          <p:nvPr/>
        </p:nvSpPr>
        <p:spPr>
          <a:xfrm>
            <a:off x="914400" y="2468880"/>
            <a:ext cx="10881360" cy="1005840"/>
          </a:xfrm>
          <a:prstGeom prst="rect">
            <a:avLst/>
          </a:prstGeom>
          <a:noFill/>
        </p:spPr>
        <p:txBody>
          <a:bodyPr wrap="square">
            <a:spAutoFit/>
          </a:bodyPr>
          <a:lstStyle/>
          <a:p>
            <a:pPr algn="l"/>
            <a:r>
              <a:rPr sz="1700" b="0">
                <a:solidFill>
                  <a:srgbClr val="FFFFFF"/>
                </a:solidFill>
              </a:rPr>
              <a:t>Geographic inequality is severe: high rents in the North, but the worst burden is concentrated in South/West Side neighborhoods due to low incomes.</a:t>
            </a:r>
          </a:p>
        </p:txBody>
      </p:sp>
      <p:sp>
        <p:nvSpPr>
          <p:cNvPr id="10" name="Rectangle 9"/>
          <p:cNvSpPr/>
          <p:nvPr/>
        </p:nvSpPr>
        <p:spPr>
          <a:xfrm>
            <a:off x="274320" y="3703320"/>
            <a:ext cx="502920" cy="50292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3703320"/>
            <a:ext cx="502920" cy="502920"/>
          </a:xfrm>
          <a:prstGeom prst="rect">
            <a:avLst/>
          </a:prstGeom>
          <a:noFill/>
        </p:spPr>
        <p:txBody>
          <a:bodyPr wrap="square">
            <a:spAutoFit/>
          </a:bodyPr>
          <a:lstStyle/>
          <a:p>
            <a:pPr algn="ctr"/>
            <a:r>
              <a:rPr sz="1800" b="1">
                <a:solidFill>
                  <a:srgbClr val="FFFFFF"/>
                </a:solidFill>
              </a:rPr>
              <a:t>3</a:t>
            </a:r>
          </a:p>
        </p:txBody>
      </p:sp>
      <p:sp>
        <p:nvSpPr>
          <p:cNvPr id="12" name="TextBox 11"/>
          <p:cNvSpPr txBox="1"/>
          <p:nvPr/>
        </p:nvSpPr>
        <p:spPr>
          <a:xfrm>
            <a:off x="914400" y="3703320"/>
            <a:ext cx="10881360" cy="1005840"/>
          </a:xfrm>
          <a:prstGeom prst="rect">
            <a:avLst/>
          </a:prstGeom>
          <a:noFill/>
        </p:spPr>
        <p:txBody>
          <a:bodyPr wrap="square">
            <a:spAutoFit/>
          </a:bodyPr>
          <a:lstStyle/>
          <a:p>
            <a:pPr algn="l"/>
            <a:r>
              <a:rPr sz="1700" b="0">
                <a:solidFill>
                  <a:srgbClr val="FFFFFF"/>
                </a:solidFill>
              </a:rPr>
              <a:t>Cost burden is the norm: 83% of Cook County tracts fail the HUD affordability standard — a systemic failure, not an isolated problem.</a:t>
            </a:r>
          </a:p>
        </p:txBody>
      </p:sp>
      <p:sp>
        <p:nvSpPr>
          <p:cNvPr id="13" name="Rectangle 12"/>
          <p:cNvSpPr/>
          <p:nvPr/>
        </p:nvSpPr>
        <p:spPr>
          <a:xfrm>
            <a:off x="274320" y="4937760"/>
            <a:ext cx="502920" cy="50292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4937760"/>
            <a:ext cx="502920" cy="502920"/>
          </a:xfrm>
          <a:prstGeom prst="rect">
            <a:avLst/>
          </a:prstGeom>
          <a:noFill/>
        </p:spPr>
        <p:txBody>
          <a:bodyPr wrap="square">
            <a:spAutoFit/>
          </a:bodyPr>
          <a:lstStyle/>
          <a:p>
            <a:pPr algn="ctr"/>
            <a:r>
              <a:rPr sz="1800" b="1">
                <a:solidFill>
                  <a:srgbClr val="FFFFFF"/>
                </a:solidFill>
              </a:rPr>
              <a:t>4</a:t>
            </a:r>
          </a:p>
        </p:txBody>
      </p:sp>
      <p:sp>
        <p:nvSpPr>
          <p:cNvPr id="15" name="TextBox 14"/>
          <p:cNvSpPr txBox="1"/>
          <p:nvPr/>
        </p:nvSpPr>
        <p:spPr>
          <a:xfrm>
            <a:off x="914400" y="4937760"/>
            <a:ext cx="10881360" cy="1005840"/>
          </a:xfrm>
          <a:prstGeom prst="rect">
            <a:avLst/>
          </a:prstGeom>
          <a:noFill/>
        </p:spPr>
        <p:txBody>
          <a:bodyPr wrap="square">
            <a:spAutoFit/>
          </a:bodyPr>
          <a:lstStyle/>
          <a:p>
            <a:pPr algn="l"/>
            <a:r>
              <a:rPr sz="1700" b="0">
                <a:solidFill>
                  <a:srgbClr val="FFFFFF"/>
                </a:solidFill>
              </a:rPr>
              <a:t>Both supply and income policies are needed: market-rate construction alone won't reach the communities that need help most.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0"/>
            <a:ext cx="10972800" cy="1097280"/>
          </a:xfrm>
          <a:prstGeom prst="rect">
            <a:avLst/>
          </a:prstGeom>
          <a:noFill/>
        </p:spPr>
        <p:txBody>
          <a:bodyPr wrap="square">
            <a:spAutoFit/>
          </a:bodyPr>
          <a:lstStyle/>
          <a:p>
            <a:pPr algn="ctr"/>
            <a:r>
              <a:rPr sz="4800" b="1">
                <a:solidFill>
                  <a:srgbClr val="FFFFFF"/>
                </a:solidFill>
              </a:rPr>
              <a:t>Thank You</a:t>
            </a:r>
          </a:p>
        </p:txBody>
      </p:sp>
      <p:sp>
        <p:nvSpPr>
          <p:cNvPr id="4" name="Rectangle 3"/>
          <p:cNvSpPr/>
          <p:nvPr/>
        </p:nvSpPr>
        <p:spPr>
          <a:xfrm>
            <a:off x="365760" y="3017520"/>
            <a:ext cx="11430000" cy="27432"/>
          </a:xfrm>
          <a:prstGeom prst="rect">
            <a:avLst/>
          </a:prstGeom>
          <a:solidFill>
            <a:srgbClr val="E45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200400"/>
            <a:ext cx="11155680" cy="457200"/>
          </a:xfrm>
          <a:prstGeom prst="rect">
            <a:avLst/>
          </a:prstGeom>
          <a:noFill/>
        </p:spPr>
        <p:txBody>
          <a:bodyPr wrap="square">
            <a:spAutoFit/>
          </a:bodyPr>
          <a:lstStyle/>
          <a:p>
            <a:pPr algn="ctr"/>
            <a:r>
              <a:rPr sz="1400" b="0" dirty="0">
                <a:solidFill>
                  <a:srgbClr val="CCCCCC"/>
                </a:solidFill>
              </a:rPr>
              <a:t>Data:  ACS 2024  ·  Zillow ZORI 2015–2026  ·  Census TIGER/Line 2024</a:t>
            </a:r>
          </a:p>
        </p:txBody>
      </p:sp>
      <p:sp>
        <p:nvSpPr>
          <p:cNvPr id="6" name="TextBox 5"/>
          <p:cNvSpPr txBox="1"/>
          <p:nvPr/>
        </p:nvSpPr>
        <p:spPr>
          <a:xfrm>
            <a:off x="502920" y="3749039"/>
            <a:ext cx="11155680" cy="457200"/>
          </a:xfrm>
          <a:prstGeom prst="rect">
            <a:avLst/>
          </a:prstGeom>
          <a:noFill/>
        </p:spPr>
        <p:txBody>
          <a:bodyPr wrap="square">
            <a:spAutoFit/>
          </a:bodyPr>
          <a:lstStyle/>
          <a:p>
            <a:pPr algn="ctr"/>
            <a:r>
              <a:rPr sz="1400" b="0" dirty="0">
                <a:solidFill>
                  <a:srgbClr val="E45756"/>
                </a:solidFill>
              </a:rPr>
              <a:t>GitHub Repo:  [link TBD]     |     </a:t>
            </a:r>
            <a:r>
              <a:rPr sz="1400" b="0" dirty="0" err="1">
                <a:solidFill>
                  <a:srgbClr val="E45756"/>
                </a:solidFill>
              </a:rPr>
              <a:t>Streamlit</a:t>
            </a:r>
            <a:r>
              <a:rPr sz="1400" b="0" dirty="0">
                <a:solidFill>
                  <a:srgbClr val="E45756"/>
                </a:solidFill>
              </a:rPr>
              <a:t> Dashboard:  [link TBD]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1115</TotalTime>
  <Words>1525</Words>
  <Application>Microsoft Macintosh PowerPoint</Application>
  <PresentationFormat>Custom</PresentationFormat>
  <Paragraphs>152</Paragraphs>
  <Slides>14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 Kr</cp:lastModifiedBy>
  <cp:revision>5</cp:revision>
  <dcterms:created xsi:type="dcterms:W3CDTF">2013-01-27T09:14:16Z</dcterms:created>
  <dcterms:modified xsi:type="dcterms:W3CDTF">2026-03-03T08:16:30Z</dcterms:modified>
  <cp:category/>
</cp:coreProperties>
</file>